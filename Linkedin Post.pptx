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147478148" r:id="rId2"/>
    <p:sldId id="2147478149" r:id="rId3"/>
    <p:sldId id="2147478147" r:id="rId4"/>
    <p:sldId id="2147478125" r:id="rId5"/>
    <p:sldId id="2147478126" r:id="rId6"/>
    <p:sldId id="2147478144" r:id="rId7"/>
    <p:sldId id="2147478143" r:id="rId8"/>
    <p:sldId id="2147478145" r:id="rId9"/>
    <p:sldId id="2147478146" r:id="rId10"/>
    <p:sldId id="2147478142" r:id="rId11"/>
    <p:sldId id="2147478127" r:id="rId12"/>
    <p:sldId id="2147478128" r:id="rId13"/>
    <p:sldId id="2147478129" r:id="rId14"/>
    <p:sldId id="2147478130" r:id="rId15"/>
    <p:sldId id="2147478131" r:id="rId16"/>
    <p:sldId id="2147478132" r:id="rId17"/>
    <p:sldId id="2147478133" r:id="rId18"/>
    <p:sldId id="2147478134" r:id="rId19"/>
    <p:sldId id="2147478136" r:id="rId20"/>
    <p:sldId id="2147478135" r:id="rId21"/>
    <p:sldId id="2147478138" r:id="rId22"/>
    <p:sldId id="2147478137" r:id="rId23"/>
    <p:sldId id="2147478139" r:id="rId24"/>
    <p:sldId id="2147478140" r:id="rId25"/>
    <p:sldId id="214747814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86" autoAdjust="0"/>
    <p:restoredTop sz="94660"/>
  </p:normalViewPr>
  <p:slideViewPr>
    <p:cSldViewPr snapToGrid="0">
      <p:cViewPr varScale="1">
        <p:scale>
          <a:sx n="82" d="100"/>
          <a:sy n="82" d="100"/>
        </p:scale>
        <p:origin x="7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av Vishwamitra" userId="7fb8697eb1ac6f58" providerId="LiveId" clId="{7CEC6309-86B1-4EF0-964D-DC7421AD5AF2}"/>
    <pc:docChg chg="modSld">
      <pc:chgData name="Gaurav Vishwamitra" userId="7fb8697eb1ac6f58" providerId="LiveId" clId="{7CEC6309-86B1-4EF0-964D-DC7421AD5AF2}" dt="2026-10-24T13:50:11.941" v="1" actId="20577"/>
      <pc:docMkLst>
        <pc:docMk/>
      </pc:docMkLst>
      <pc:sldChg chg="modSp mod">
        <pc:chgData name="Gaurav Vishwamitra" userId="7fb8697eb1ac6f58" providerId="LiveId" clId="{7CEC6309-86B1-4EF0-964D-DC7421AD5AF2}" dt="2026-10-24T13:50:11.941" v="1" actId="20577"/>
        <pc:sldMkLst>
          <pc:docMk/>
          <pc:sldMk cId="973284231" sldId="2147478140"/>
        </pc:sldMkLst>
        <pc:spChg chg="mod">
          <ac:chgData name="Gaurav Vishwamitra" userId="7fb8697eb1ac6f58" providerId="LiveId" clId="{7CEC6309-86B1-4EF0-964D-DC7421AD5AF2}" dt="2026-10-24T13:50:11.941" v="1" actId="20577"/>
          <ac:spMkLst>
            <pc:docMk/>
            <pc:sldMk cId="973284231" sldId="2147478140"/>
            <ac:spMk id="3" creationId="{402AEE81-AC1E-3903-E5D0-523498936C4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1F93D-F832-45B6-99E8-C8E954099837}" type="datetimeFigureOut">
              <a:rPr lang="en-IN" smtClean="0"/>
              <a:t>24-10-2026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3411BF-2308-4CBA-8F8A-815AD3BC0246}" type="slidenum">
              <a:rPr lang="en-IN" smtClean="0"/>
              <a:t>‹#›</a:t>
            </a:fld>
            <a:endParaRPr lang="en-IN"/>
          </a:p>
        </p:txBody>
      </p:sp>
    </p:spTree>
    <p:extLst>
      <p:ext uri="{BB962C8B-B14F-4D97-AF65-F5344CB8AC3E}">
        <p14:creationId xmlns:p14="http://schemas.microsoft.com/office/powerpoint/2010/main" val="3493783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887C7-C5ED-4F9F-B045-D16973B596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D0E9A1-E3F8-4814-B292-981EEFBDAC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A16F38-A6F4-44A3-AC22-E617F37C8CD6}"/>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5" name="Footer Placeholder 4">
            <a:extLst>
              <a:ext uri="{FF2B5EF4-FFF2-40B4-BE49-F238E27FC236}">
                <a16:creationId xmlns:a16="http://schemas.microsoft.com/office/drawing/2014/main" id="{B1DC29D6-DB01-4F18-BFC9-224810EE60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3B5E9-D31D-49EC-B206-C2D6ABD88C30}"/>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2043047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A00D6-6BD9-409D-B2F3-011DD3B5C96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A9DB75-BF25-4F5A-B501-55DBAC0C03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5479CE-46D5-484E-AF66-7C01FFC65962}"/>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5" name="Footer Placeholder 4">
            <a:extLst>
              <a:ext uri="{FF2B5EF4-FFF2-40B4-BE49-F238E27FC236}">
                <a16:creationId xmlns:a16="http://schemas.microsoft.com/office/drawing/2014/main" id="{AFECFF38-AA69-4326-B4AC-8B094B221A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46A8B8-A11D-4AC9-91E9-30932B27144B}"/>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1056697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34D8B-A6F5-4779-9673-D3F664E902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FD43E7-D0CD-42CC-97AD-B9EBA13034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B0D09D-548D-452E-B698-31995D4BFF19}"/>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5" name="Footer Placeholder 4">
            <a:extLst>
              <a:ext uri="{FF2B5EF4-FFF2-40B4-BE49-F238E27FC236}">
                <a16:creationId xmlns:a16="http://schemas.microsoft.com/office/drawing/2014/main" id="{A48EF408-4E9D-4BD5-9BCF-699BBF9E54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29E873-685D-4034-BBA0-95B222AC4CE9}"/>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2836169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03987-74C5-4EE4-B670-F20ED532BA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3CC382-9EA5-4B92-851C-8D641FF7E6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86C963-491C-4954-8206-9D55AC1347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3B851F1-729E-42A0-9FED-CB3158E691EE}"/>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6" name="Footer Placeholder 5">
            <a:extLst>
              <a:ext uri="{FF2B5EF4-FFF2-40B4-BE49-F238E27FC236}">
                <a16:creationId xmlns:a16="http://schemas.microsoft.com/office/drawing/2014/main" id="{E872D5CF-FBBF-4529-8C9B-2650F580D7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BD4063-709A-4D87-ADC5-98ED1DB2BB58}"/>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3723596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20EE9-9059-411A-8AA9-5ED67060B5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A7E910-6403-48FF-9251-EF6B69ECD5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249CBD-FB59-450D-88F7-83D374647F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018871-6E23-4834-B22E-F8C1F4A888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365152-3A7C-4FBE-8ACD-0F9DE3F60E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5E1C739-1AB3-470C-A316-9CC1EBBECB23}"/>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8" name="Footer Placeholder 7">
            <a:extLst>
              <a:ext uri="{FF2B5EF4-FFF2-40B4-BE49-F238E27FC236}">
                <a16:creationId xmlns:a16="http://schemas.microsoft.com/office/drawing/2014/main" id="{1CCA3CDD-D605-4E7A-A713-D0A6AC45095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09265E6-23F0-4C5F-A44A-F852500A5A43}"/>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3011240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4756-CE5B-4DEC-A456-A23600CC85D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5FE6CCD-3E79-4BFE-9DCC-FCF0CF1BFFB6}"/>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4" name="Footer Placeholder 3">
            <a:extLst>
              <a:ext uri="{FF2B5EF4-FFF2-40B4-BE49-F238E27FC236}">
                <a16:creationId xmlns:a16="http://schemas.microsoft.com/office/drawing/2014/main" id="{FC27A6BB-3A8E-41CF-BB38-B43355676F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71018D9-D827-44D6-AA8A-44816DD53532}"/>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3952636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74A3EB-0A63-4BCE-9395-55A88D4BD0A0}"/>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3" name="Footer Placeholder 2">
            <a:extLst>
              <a:ext uri="{FF2B5EF4-FFF2-40B4-BE49-F238E27FC236}">
                <a16:creationId xmlns:a16="http://schemas.microsoft.com/office/drawing/2014/main" id="{1016BAC1-C730-4247-AE66-949116EE7A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F2634EA-C83A-4AEA-BE33-F4855CFD6554}"/>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2523150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2D026-8384-4E04-B27E-365A393837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ACFB2CD-50CC-45DC-9F5D-60AF1BAF15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67649AA-E2F0-49DB-B1AB-CE417D469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7F5F02-EF07-4DE3-8B6C-199273EFBB5E}"/>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6" name="Footer Placeholder 5">
            <a:extLst>
              <a:ext uri="{FF2B5EF4-FFF2-40B4-BE49-F238E27FC236}">
                <a16:creationId xmlns:a16="http://schemas.microsoft.com/office/drawing/2014/main" id="{AA38C66C-108B-4E39-B2F7-F7ABDDDF16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3AF354-D6AC-4870-8F49-D93F0C6226FE}"/>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618145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D8CA8-5C8D-49B3-AAA1-1A50E93742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BDDD36-27BE-4747-9B5B-DD094525CE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49D68F-D25B-46DD-A990-A6F898EE3F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8DC8D2-B23B-434D-9D11-AE9FCB77454B}"/>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6" name="Footer Placeholder 5">
            <a:extLst>
              <a:ext uri="{FF2B5EF4-FFF2-40B4-BE49-F238E27FC236}">
                <a16:creationId xmlns:a16="http://schemas.microsoft.com/office/drawing/2014/main" id="{0875F849-7369-4201-BE9A-405AB70386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A8B1FA-35AC-43DD-BD02-C7038CF163F2}"/>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901152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C088E-C584-4A09-82A1-A162D7861B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724B18-8AF9-4F87-8AEC-67D2B00F1D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E0298B-2E57-4556-AD7D-EBE9220F9119}"/>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5" name="Footer Placeholder 4">
            <a:extLst>
              <a:ext uri="{FF2B5EF4-FFF2-40B4-BE49-F238E27FC236}">
                <a16:creationId xmlns:a16="http://schemas.microsoft.com/office/drawing/2014/main" id="{21CF8989-46E3-4F16-AAC1-18E173363A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977654-A9F6-4D2C-BF2F-673CAAA5E4CA}"/>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68297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1D0791-1908-4343-B728-0D0D44AA70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63A6F6-5271-429C-9E2D-C224EF1729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2EC300-9AB1-4368-BBC3-0F84AED356A2}"/>
              </a:ext>
            </a:extLst>
          </p:cNvPr>
          <p:cNvSpPr>
            <a:spLocks noGrp="1"/>
          </p:cNvSpPr>
          <p:nvPr>
            <p:ph type="dt" sz="half" idx="10"/>
          </p:nvPr>
        </p:nvSpPr>
        <p:spPr/>
        <p:txBody>
          <a:bodyPr/>
          <a:lstStyle/>
          <a:p>
            <a:fld id="{FF33447C-D258-4757-9306-F022437D87D8}" type="datetimeFigureOut">
              <a:rPr lang="en-IN" smtClean="0"/>
              <a:t>24-10-2026</a:t>
            </a:fld>
            <a:endParaRPr lang="en-IN"/>
          </a:p>
        </p:txBody>
      </p:sp>
      <p:sp>
        <p:nvSpPr>
          <p:cNvPr id="5" name="Footer Placeholder 4">
            <a:extLst>
              <a:ext uri="{FF2B5EF4-FFF2-40B4-BE49-F238E27FC236}">
                <a16:creationId xmlns:a16="http://schemas.microsoft.com/office/drawing/2014/main" id="{46D4A042-5E19-43C9-B04D-B06130B666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D4FB88-8595-46A3-AC2A-CE6A46356065}"/>
              </a:ext>
            </a:extLst>
          </p:cNvPr>
          <p:cNvSpPr>
            <a:spLocks noGrp="1"/>
          </p:cNvSpPr>
          <p:nvPr>
            <p:ph type="sldNum" sz="quarter" idx="12"/>
          </p:nvPr>
        </p:nvSpPr>
        <p:spPr/>
        <p:txBody>
          <a:bodyPr/>
          <a:lstStyle/>
          <a:p>
            <a:fld id="{FC8083CD-1DC7-4200-82F2-E6B7A5966FDB}" type="slidenum">
              <a:rPr lang="en-IN" smtClean="0"/>
              <a:t>‹#›</a:t>
            </a:fld>
            <a:endParaRPr lang="en-IN"/>
          </a:p>
        </p:txBody>
      </p:sp>
    </p:spTree>
    <p:extLst>
      <p:ext uri="{BB962C8B-B14F-4D97-AF65-F5344CB8AC3E}">
        <p14:creationId xmlns:p14="http://schemas.microsoft.com/office/powerpoint/2010/main" val="1048580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g_white">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DCF0DC8A-3866-AE49-8010-D1AA796ED08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39363" y="6374060"/>
            <a:ext cx="355600" cy="355600"/>
          </a:xfrm>
          <a:prstGeom prst="rect">
            <a:avLst/>
          </a:prstGeom>
        </p:spPr>
      </p:pic>
      <p:sp>
        <p:nvSpPr>
          <p:cNvPr id="25" name="Shape 25"/>
          <p:cNvSpPr>
            <a:spLocks noGrp="1"/>
          </p:cNvSpPr>
          <p:nvPr>
            <p:ph type="title" hasCustomPrompt="1"/>
          </p:nvPr>
        </p:nvSpPr>
        <p:spPr>
          <a:xfrm>
            <a:off x="334964" y="324000"/>
            <a:ext cx="11520000" cy="539667"/>
          </a:xfrm>
          <a:prstGeom prst="rect">
            <a:avLst/>
          </a:prstGeom>
        </p:spPr>
        <p:txBody>
          <a:bodyPr>
            <a:normAutofit/>
          </a:bodyPr>
          <a:lstStyle>
            <a:lvl1pPr>
              <a:defRPr sz="2600"/>
            </a:lvl1pPr>
          </a:lstStyle>
          <a:p>
            <a:r>
              <a:rPr lang="en-US" altLang="ja-JP"/>
              <a:t>Click to add title</a:t>
            </a:r>
            <a:endParaRPr/>
          </a:p>
        </p:txBody>
      </p:sp>
      <p:sp>
        <p:nvSpPr>
          <p:cNvPr id="11" name="テキスト ボックス 10"/>
          <p:cNvSpPr txBox="1"/>
          <p:nvPr userDrawn="1"/>
        </p:nvSpPr>
        <p:spPr>
          <a:xfrm>
            <a:off x="11104119" y="6421350"/>
            <a:ext cx="764398" cy="2808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7624" tIns="47624" rIns="47624" bIns="47624" numCol="1" spcCol="38100" rtlCol="0" anchor="ctr">
            <a:spAutoFit/>
          </a:bodyPr>
          <a:lstStyle/>
          <a:p>
            <a:pPr marL="0" marR="0" indent="0" algn="r" defTabSz="548391" rtl="0" fontAlgn="auto" latinLnBrk="0" hangingPunct="0">
              <a:lnSpc>
                <a:spcPct val="100000"/>
              </a:lnSpc>
              <a:spcBef>
                <a:spcPts val="0"/>
              </a:spcBef>
              <a:spcAft>
                <a:spcPts val="0"/>
              </a:spcAft>
              <a:buClrTx/>
              <a:buSzTx/>
              <a:buFontTx/>
              <a:buNone/>
              <a:tabLst/>
            </a:pPr>
            <a:fld id="{86CB4B4D-7CA3-9044-876B-883B54F8677D}" type="slidenum">
              <a:rPr lang="en-US" altLang="ja-JP" sz="1200" b="1" smtClean="0">
                <a:latin typeface="Rakuten Sans" panose="020B0503020203020204" pitchFamily="34" charset="0"/>
                <a:cs typeface="Rakuten Sans" panose="020B0503020203020204" pitchFamily="34" charset="0"/>
              </a:rPr>
              <a:pPr marL="0" marR="0" indent="0" algn="r" defTabSz="548391" rtl="0" fontAlgn="auto" latinLnBrk="0" hangingPunct="0">
                <a:lnSpc>
                  <a:spcPct val="100000"/>
                </a:lnSpc>
                <a:spcBef>
                  <a:spcPts val="0"/>
                </a:spcBef>
                <a:spcAft>
                  <a:spcPts val="0"/>
                </a:spcAft>
                <a:buClrTx/>
                <a:buSzTx/>
                <a:buFontTx/>
                <a:buNone/>
                <a:tabLst/>
              </a:pPr>
              <a:t>‹#›</a:t>
            </a:fld>
            <a:endParaRPr kumimoji="0" lang="ja-JP" altLang="en-US" sz="1200" b="1" i="0" u="none" strike="noStrike" cap="none" spc="0" normalizeH="0" baseline="0">
              <a:ln>
                <a:noFill/>
              </a:ln>
              <a:solidFill>
                <a:srgbClr val="000000"/>
              </a:solidFill>
              <a:effectLst/>
              <a:uFillTx/>
              <a:latin typeface="Rakuten Sans" panose="020B0503020203020204" pitchFamily="34" charset="0"/>
              <a:ea typeface="メイリオ" panose="020B0604030504040204" pitchFamily="50" charset="-128"/>
              <a:cs typeface="Rakuten Sans" panose="020B0503020203020204" pitchFamily="34" charset="0"/>
              <a:sym typeface="ヒラギノ角ゴ ProN W3"/>
            </a:endParaRPr>
          </a:p>
        </p:txBody>
      </p:sp>
      <p:sp>
        <p:nvSpPr>
          <p:cNvPr id="9" name="コンテンツ プレースホルダー 2"/>
          <p:cNvSpPr>
            <a:spLocks noGrp="1"/>
          </p:cNvSpPr>
          <p:nvPr userDrawn="1">
            <p:ph sz="quarter" idx="10" hasCustomPrompt="1"/>
          </p:nvPr>
        </p:nvSpPr>
        <p:spPr>
          <a:xfrm>
            <a:off x="334965" y="1028859"/>
            <a:ext cx="11520000" cy="5161230"/>
          </a:xfrm>
          <a:prstGeom prst="rect">
            <a:avLst/>
          </a:prstGeom>
        </p:spPr>
        <p:txBody>
          <a:bodyPr/>
          <a:lstStyle>
            <a:lvl1pPr marL="0" indent="0">
              <a:lnSpc>
                <a:spcPct val="100000"/>
              </a:lnSpc>
              <a:spcAft>
                <a:spcPts val="800"/>
              </a:spcAft>
              <a:defRPr sz="1800" b="0" i="0" baseline="0">
                <a:latin typeface="Rakuten Sans" panose="020B0503020203020204" pitchFamily="34" charset="0"/>
                <a:ea typeface="+mn-ea"/>
                <a:cs typeface="Rakuten Sans" panose="020B0503020203020204" pitchFamily="34" charset="0"/>
              </a:defRPr>
            </a:lvl1pPr>
            <a:lvl2pPr marL="360018" indent="-240012">
              <a:lnSpc>
                <a:spcPct val="100000"/>
              </a:lnSpc>
              <a:spcAft>
                <a:spcPts val="800"/>
              </a:spcAft>
              <a:defRPr sz="1600" baseline="0">
                <a:latin typeface="+mn-ea"/>
                <a:ea typeface="+mn-ea"/>
              </a:defRPr>
            </a:lvl2pPr>
            <a:lvl3pPr marL="720036" indent="-240012">
              <a:lnSpc>
                <a:spcPct val="100000"/>
              </a:lnSpc>
              <a:spcAft>
                <a:spcPts val="800"/>
              </a:spcAft>
              <a:defRPr sz="1600">
                <a:latin typeface="+mn-ea"/>
                <a:ea typeface="+mn-ea"/>
              </a:defRPr>
            </a:lvl3pPr>
            <a:lvl4pPr marL="1080054" indent="-240012">
              <a:lnSpc>
                <a:spcPct val="100000"/>
              </a:lnSpc>
              <a:spcAft>
                <a:spcPts val="800"/>
              </a:spcAft>
              <a:defRPr sz="1600">
                <a:latin typeface="+mn-ea"/>
                <a:ea typeface="+mn-ea"/>
              </a:defRPr>
            </a:lvl4pPr>
            <a:lvl5pPr marL="1440072" indent="-240012">
              <a:lnSpc>
                <a:spcPct val="100000"/>
              </a:lnSpc>
              <a:spcAft>
                <a:spcPts val="800"/>
              </a:spcAft>
              <a:defRPr sz="1600">
                <a:latin typeface="+mn-ea"/>
                <a:ea typeface="+mn-ea"/>
              </a:defRPr>
            </a:lvl5pPr>
            <a:lvl6pPr marL="1800090" indent="-240012">
              <a:lnSpc>
                <a:spcPct val="100000"/>
              </a:lnSpc>
              <a:spcAft>
                <a:spcPts val="800"/>
              </a:spcAft>
              <a:defRPr sz="1600">
                <a:latin typeface="+mn-ea"/>
                <a:ea typeface="+mn-ea"/>
              </a:defRPr>
            </a:lvl6pPr>
            <a:lvl7pPr marL="2160108" indent="-240012">
              <a:lnSpc>
                <a:spcPct val="100000"/>
              </a:lnSpc>
              <a:spcAft>
                <a:spcPts val="800"/>
              </a:spcAft>
              <a:defRPr sz="1600">
                <a:latin typeface="+mn-ea"/>
                <a:ea typeface="+mn-ea"/>
              </a:defRPr>
            </a:lvl7pPr>
            <a:lvl8pPr marL="2520126" indent="-240012">
              <a:lnSpc>
                <a:spcPct val="100000"/>
              </a:lnSpc>
              <a:spcAft>
                <a:spcPts val="800"/>
              </a:spcAft>
              <a:defRPr sz="1600">
                <a:latin typeface="+mn-ea"/>
                <a:ea typeface="+mn-ea"/>
              </a:defRPr>
            </a:lvl8pPr>
            <a:lvl9pPr marL="2880144" indent="-240012">
              <a:lnSpc>
                <a:spcPct val="100000"/>
              </a:lnSpc>
              <a:spcAft>
                <a:spcPts val="800"/>
              </a:spcAft>
              <a:defRPr sz="1600">
                <a:latin typeface="+mn-ea"/>
                <a:ea typeface="+mn-ea"/>
              </a:defRPr>
            </a:lvl9pPr>
          </a:lstStyle>
          <a:p>
            <a:pPr lvl="0"/>
            <a:r>
              <a:rPr kumimoji="1" lang="en-US" altLang="ja-JP"/>
              <a:t>Click to add object</a:t>
            </a:r>
            <a:endParaRPr kumimoji="1" lang="ja-JP" altLang="en-US"/>
          </a:p>
        </p:txBody>
      </p:sp>
      <p:pic>
        <p:nvPicPr>
          <p:cNvPr id="12" name="図 11">
            <a:extLst>
              <a:ext uri="{FF2B5EF4-FFF2-40B4-BE49-F238E27FC236}">
                <a16:creationId xmlns:a16="http://schemas.microsoft.com/office/drawing/2014/main" id="{9B22ADDD-1622-174C-8100-923F963418D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406007" y="6501398"/>
            <a:ext cx="1041400" cy="101600"/>
          </a:xfrm>
          <a:prstGeom prst="rect">
            <a:avLst/>
          </a:prstGeom>
        </p:spPr>
      </p:pic>
    </p:spTree>
    <p:extLst>
      <p:ext uri="{BB962C8B-B14F-4D97-AF65-F5344CB8AC3E}">
        <p14:creationId xmlns:p14="http://schemas.microsoft.com/office/powerpoint/2010/main" val="160016501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64C2C4-067B-45C7-A1D0-235F463993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9A38F2-6B13-4075-B514-EA292360BD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A4D550-5CE3-44A0-A407-9E6B227240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33447C-D258-4757-9306-F022437D87D8}" type="datetimeFigureOut">
              <a:rPr lang="en-IN" smtClean="0"/>
              <a:t>24-10-2026</a:t>
            </a:fld>
            <a:endParaRPr lang="en-IN"/>
          </a:p>
        </p:txBody>
      </p:sp>
      <p:sp>
        <p:nvSpPr>
          <p:cNvPr id="5" name="Footer Placeholder 4">
            <a:extLst>
              <a:ext uri="{FF2B5EF4-FFF2-40B4-BE49-F238E27FC236}">
                <a16:creationId xmlns:a16="http://schemas.microsoft.com/office/drawing/2014/main" id="{A218761F-FE3D-48EB-AD31-49F29ECC3F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7EC416-5DA0-4401-9B6D-E715BC5E1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8083CD-1DC7-4200-82F2-E6B7A5966FDB}" type="slidenum">
              <a:rPr lang="en-IN" smtClean="0"/>
              <a:t>‹#›</a:t>
            </a:fld>
            <a:endParaRPr lang="en-IN"/>
          </a:p>
        </p:txBody>
      </p:sp>
    </p:spTree>
    <p:extLst>
      <p:ext uri="{BB962C8B-B14F-4D97-AF65-F5344CB8AC3E}">
        <p14:creationId xmlns:p14="http://schemas.microsoft.com/office/powerpoint/2010/main" val="771941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www.linkedin.com/safety/go/?url=http%3A%2F%2FControl%2EIt&amp;urlhash=7kyd&amp;mt=JkLo5WpTqQWGXFU_W-82fOs0OjUunWbBKxlFbMaQaj6PfjVQUdt73bZEzRFd__fZdP-Opv8VTMSP1MsigGIx_j23wbAgrEK_x9AFNIBj8tJ1V8O24tLEaJT_JQ&amp;isSdui=true" TargetMode="External"/><Relationship Id="rId2" Type="http://schemas.openxmlformats.org/officeDocument/2006/relationships/hyperlink" Target="https://www.linkedin.com/safety/go/?url=http%3A%2F%2FControl%2EIt&amp;urlhash=7kyd&amp;mt=QNs4sBKwaabJvRMMeM5ejFBLH14iPa3uCU2EyeG0kEJtCb2a5e0dGFZBtfc08EFznAmeF5zEsBNiyjjB6S4JrVp_yxWMPWmzOuu9IsK3G5IKoUqGrFt-IL5iuQ&amp;isSdui=true" TargetMode="Externa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fi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C6E9-669A-63DF-8EEC-49AE324218A4}"/>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E574DD8D-CF33-5CFC-C652-F51F5A8827A1}"/>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101916C1-D582-B090-BD62-5A889493ADDE}"/>
              </a:ext>
            </a:extLst>
          </p:cNvPr>
          <p:cNvSpPr txBox="1">
            <a:spLocks/>
          </p:cNvSpPr>
          <p:nvPr/>
        </p:nvSpPr>
        <p:spPr>
          <a:xfrm>
            <a:off x="662474" y="212747"/>
            <a:ext cx="11460312" cy="152712"/>
          </a:xfrm>
          <a:prstGeom prst="rect">
            <a:avLst/>
          </a:prstGeom>
          <a:solidFill>
            <a:schemeClr val="bg1"/>
          </a:solidFill>
          <a:ln w="12700">
            <a:miter lim="400000"/>
          </a:ln>
          <a:extLst>
            <a:ext uri="{C572A759-6A51-4108-AA02-DFA0A04FC94B}">
              <ma14:wrappingTextBoxFlag xmlns="" xmlns:ma14="http://schemas.microsoft.com/office/mac/drawingml/2011/main"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IN" sz="2400" dirty="0"/>
              <a:t>7 Ways to Reduce Azure Costs Without Compromising Performance 🚀</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21" name="TextBox 20">
            <a:extLst>
              <a:ext uri="{FF2B5EF4-FFF2-40B4-BE49-F238E27FC236}">
                <a16:creationId xmlns:a16="http://schemas.microsoft.com/office/drawing/2014/main" id="{6A77AEFC-364D-1D43-0004-0949E0D317A3}"/>
              </a:ext>
            </a:extLst>
          </p:cNvPr>
          <p:cNvSpPr txBox="1"/>
          <p:nvPr/>
        </p:nvSpPr>
        <p:spPr>
          <a:xfrm>
            <a:off x="237688" y="568277"/>
            <a:ext cx="8010571" cy="5755422"/>
          </a:xfrm>
          <a:prstGeom prst="rect">
            <a:avLst/>
          </a:prstGeom>
          <a:noFill/>
        </p:spPr>
        <p:txBody>
          <a:bodyPr wrap="square">
            <a:spAutoFit/>
          </a:bodyPr>
          <a:lstStyle/>
          <a:p>
            <a:r>
              <a:rPr lang="en-IN" sz="800" dirty="0"/>
              <a:t>☁️ </a:t>
            </a:r>
            <a:r>
              <a:rPr lang="en-IN" sz="800" b="1" dirty="0"/>
              <a:t>7 Ways to Reduce Azure Costs Without Compromising Performance 🚀 — With Practical Azure Portal Locations</a:t>
            </a:r>
            <a:endParaRPr lang="en-IN" sz="800" dirty="0"/>
          </a:p>
          <a:p>
            <a:r>
              <a:rPr lang="en-IN" sz="800" dirty="0"/>
              <a:t>Cloud cost optimization is not about blindly reducing VM sizes. It’s about identifying waste, optimizing resource utilization, and maintaining performance, availability, and scalability.</a:t>
            </a:r>
          </a:p>
          <a:p>
            <a:r>
              <a:rPr lang="en-IN" sz="800" dirty="0"/>
              <a:t>As a DevOps Engineer, understanding </a:t>
            </a:r>
            <a:r>
              <a:rPr lang="en-IN" sz="800" b="1" dirty="0"/>
              <a:t>where to find cost optimization opportunities in Azure</a:t>
            </a:r>
            <a:r>
              <a:rPr lang="en-IN" sz="800" dirty="0"/>
              <a:t> is an important skill.</a:t>
            </a:r>
          </a:p>
          <a:p>
            <a:r>
              <a:rPr lang="en-IN" sz="800" dirty="0"/>
              <a:t>Here are 7 practical techniques you can implement 👇</a:t>
            </a:r>
          </a:p>
          <a:p>
            <a:r>
              <a:rPr lang="en-IN" sz="800" dirty="0"/>
              <a:t>🔹 </a:t>
            </a:r>
            <a:r>
              <a:rPr lang="en-IN" sz="800" b="1" dirty="0"/>
              <a:t>1. Right-Size Virtual Machines</a:t>
            </a:r>
            <a:endParaRPr lang="en-IN" sz="800" dirty="0"/>
          </a:p>
          <a:p>
            <a:r>
              <a:rPr lang="en-IN" sz="800" dirty="0"/>
              <a:t>📍 </a:t>
            </a:r>
            <a:r>
              <a:rPr lang="en-IN" sz="800" b="1" dirty="0"/>
              <a:t>Where to check:</a:t>
            </a:r>
            <a:r>
              <a:rPr lang="en-IN" sz="800" dirty="0"/>
              <a:t> Azure Portal → Azure Advisor → Cost → Recommendations</a:t>
            </a:r>
          </a:p>
          <a:p>
            <a:r>
              <a:rPr lang="en-IN" sz="800" dirty="0"/>
              <a:t>Also check: Virtual Machines → Your VM → Monitoring → Metrics</a:t>
            </a:r>
          </a:p>
          <a:p>
            <a:r>
              <a:rPr lang="en-IN" sz="800" dirty="0"/>
              <a:t>✅ </a:t>
            </a:r>
            <a:r>
              <a:rPr lang="en-IN" sz="800" dirty="0" err="1"/>
              <a:t>Analyze</a:t>
            </a:r>
            <a:r>
              <a:rPr lang="en-IN" sz="800" dirty="0"/>
              <a:t> CPU and memory utilization before resizing VMs. Validate the new size against workload requirements.</a:t>
            </a:r>
          </a:p>
          <a:p>
            <a:r>
              <a:rPr lang="en-IN" sz="800" dirty="0"/>
              <a:t>🔹 </a:t>
            </a:r>
            <a:r>
              <a:rPr lang="en-IN" sz="800" b="1" dirty="0"/>
              <a:t>2. Use Reservations &amp; Savings Plans</a:t>
            </a:r>
            <a:endParaRPr lang="en-IN" sz="800" dirty="0"/>
          </a:p>
          <a:p>
            <a:r>
              <a:rPr lang="en-IN" sz="800" dirty="0"/>
              <a:t>📍 </a:t>
            </a:r>
            <a:r>
              <a:rPr lang="en-IN" sz="800" b="1" dirty="0"/>
              <a:t>Where to check:</a:t>
            </a:r>
            <a:r>
              <a:rPr lang="en-IN" sz="800" dirty="0"/>
              <a:t> Azure Portal → Cost Management + Billing → Savings plans / Reservations</a:t>
            </a:r>
          </a:p>
          <a:p>
            <a:r>
              <a:rPr lang="en-IN" sz="800" dirty="0"/>
              <a:t>✅ Evaluate predictable workloads for commitment-based pricing. Confirm eligibility, usage patterns, and commitment terms before purchasing.</a:t>
            </a:r>
          </a:p>
          <a:p>
            <a:r>
              <a:rPr lang="en-IN" sz="800" dirty="0"/>
              <a:t>🔹 </a:t>
            </a:r>
            <a:r>
              <a:rPr lang="en-IN" sz="800" b="1" dirty="0"/>
              <a:t>3. Implement Autoscaling</a:t>
            </a:r>
            <a:endParaRPr lang="en-IN" sz="800" dirty="0"/>
          </a:p>
          <a:p>
            <a:r>
              <a:rPr lang="en-IN" sz="800" dirty="0"/>
              <a:t>📍 </a:t>
            </a:r>
            <a:r>
              <a:rPr lang="en-IN" sz="800" b="1" dirty="0"/>
              <a:t>Where to check:</a:t>
            </a:r>
            <a:endParaRPr lang="en-IN" sz="800" dirty="0"/>
          </a:p>
          <a:p>
            <a:pPr lvl="0"/>
            <a:r>
              <a:rPr lang="en-IN" sz="800" dirty="0"/>
              <a:t>Virtual Machine Scale Sets → Scaling</a:t>
            </a:r>
          </a:p>
          <a:p>
            <a:pPr lvl="0"/>
            <a:r>
              <a:rPr lang="en-IN" sz="800" dirty="0"/>
              <a:t>App Service → Scale out (App Service plan)</a:t>
            </a:r>
          </a:p>
          <a:p>
            <a:r>
              <a:rPr lang="en-IN" sz="800" dirty="0"/>
              <a:t>✅ Configure minimum and maximum capacity, scale-out thresholds, and scale-in rules to match workload demand.</a:t>
            </a:r>
          </a:p>
          <a:p>
            <a:r>
              <a:rPr lang="en-IN" sz="800" dirty="0"/>
              <a:t>🔹 </a:t>
            </a:r>
            <a:r>
              <a:rPr lang="en-IN" sz="800" b="1" dirty="0"/>
              <a:t>4. Optimize Azure Storage</a:t>
            </a:r>
            <a:endParaRPr lang="en-IN" sz="800" dirty="0"/>
          </a:p>
          <a:p>
            <a:r>
              <a:rPr lang="en-IN" sz="800" dirty="0"/>
              <a:t>📍 </a:t>
            </a:r>
            <a:r>
              <a:rPr lang="en-IN" sz="800" b="1" dirty="0"/>
              <a:t>Where to check:</a:t>
            </a:r>
            <a:r>
              <a:rPr lang="en-IN" sz="800" dirty="0"/>
              <a:t> Storage Accounts → Your Storage Account → Data Management → Lifecycle Management</a:t>
            </a:r>
          </a:p>
          <a:p>
            <a:r>
              <a:rPr lang="en-IN" sz="800" dirty="0"/>
              <a:t>Also check: Storage Account → Monitoring → Metrics</a:t>
            </a:r>
          </a:p>
          <a:p>
            <a:r>
              <a:rPr lang="en-IN" sz="800" dirty="0"/>
              <a:t>✅ Move infrequently accessed data to suitable Cool, Cold, or Archive tiers based on access requirements, retrieval costs, and recovery needs.</a:t>
            </a:r>
          </a:p>
          <a:p>
            <a:r>
              <a:rPr lang="en-IN" sz="800" dirty="0"/>
              <a:t>🔹 </a:t>
            </a:r>
            <a:r>
              <a:rPr lang="en-IN" sz="800" b="1" dirty="0"/>
              <a:t>5. Remove Unused Resources</a:t>
            </a:r>
            <a:endParaRPr lang="en-IN" sz="800" dirty="0"/>
          </a:p>
          <a:p>
            <a:r>
              <a:rPr lang="en-IN" sz="800" dirty="0"/>
              <a:t>📍 </a:t>
            </a:r>
            <a:r>
              <a:rPr lang="en-IN" sz="800" b="1" dirty="0"/>
              <a:t>Where to check:</a:t>
            </a:r>
            <a:r>
              <a:rPr lang="en-IN" sz="800" dirty="0"/>
              <a:t> Azure Advisor → Cost → Recommendations</a:t>
            </a:r>
          </a:p>
          <a:p>
            <a:r>
              <a:rPr lang="en-IN" sz="800" dirty="0"/>
              <a:t>Also check: Cost Management + Billing → Cost analysis</a:t>
            </a:r>
          </a:p>
          <a:p>
            <a:r>
              <a:rPr lang="en-IN" sz="800" dirty="0"/>
              <a:t>✅ Investigate unattached managed disks, unused public IPs, and unnecessary snapshots. Verify ownership, dependencies, and backup requirements before deletion.</a:t>
            </a:r>
          </a:p>
          <a:p>
            <a:r>
              <a:rPr lang="en-IN" sz="800" dirty="0"/>
              <a:t>🔹 </a:t>
            </a:r>
            <a:r>
              <a:rPr lang="en-IN" sz="800" b="1" dirty="0"/>
              <a:t>6. Optimize Azure Monitor &amp; Log Analytics</a:t>
            </a:r>
            <a:endParaRPr lang="en-IN" sz="800" dirty="0"/>
          </a:p>
          <a:p>
            <a:r>
              <a:rPr lang="en-IN" sz="800" dirty="0"/>
              <a:t>📍 </a:t>
            </a:r>
            <a:r>
              <a:rPr lang="en-IN" sz="800" b="1" dirty="0"/>
              <a:t>Where to check:</a:t>
            </a:r>
            <a:r>
              <a:rPr lang="en-IN" sz="800" dirty="0"/>
              <a:t> Log Analytics Workspaces → Your Workspace → Usage and estimated costs</a:t>
            </a:r>
          </a:p>
          <a:p>
            <a:r>
              <a:rPr lang="en-IN" sz="800" dirty="0"/>
              <a:t>Also check: Azure Monitor → Logs</a:t>
            </a:r>
          </a:p>
          <a:p>
            <a:r>
              <a:rPr lang="en-IN" sz="800" dirty="0"/>
              <a:t>✅ Identify high-volume log sources, reduce unnecessary ingestion, and configure appropriate retention settings without losing critical troubleshooting or security data.</a:t>
            </a:r>
          </a:p>
          <a:p>
            <a:r>
              <a:rPr lang="en-IN" sz="800" dirty="0"/>
              <a:t>🔹 </a:t>
            </a:r>
            <a:r>
              <a:rPr lang="en-IN" sz="800" b="1" dirty="0"/>
              <a:t>7. Use Azure Hybrid Benefit &amp; Cost Management</a:t>
            </a:r>
            <a:endParaRPr lang="en-IN" sz="800" dirty="0"/>
          </a:p>
          <a:p>
            <a:r>
              <a:rPr lang="en-IN" sz="800" dirty="0"/>
              <a:t>📍 </a:t>
            </a:r>
            <a:r>
              <a:rPr lang="en-IN" sz="800" b="1" dirty="0"/>
              <a:t>Where to check:</a:t>
            </a:r>
            <a:endParaRPr lang="en-IN" sz="800" dirty="0"/>
          </a:p>
          <a:p>
            <a:pPr lvl="0"/>
            <a:r>
              <a:rPr lang="en-IN" sz="800" dirty="0"/>
              <a:t>Cost Management + Billing → Cost analysis</a:t>
            </a:r>
          </a:p>
          <a:p>
            <a:pPr lvl="0"/>
            <a:r>
              <a:rPr lang="en-IN" sz="800" dirty="0"/>
              <a:t>Cost Management + Billing → Budgets</a:t>
            </a:r>
          </a:p>
          <a:p>
            <a:pPr lvl="0"/>
            <a:r>
              <a:rPr lang="en-IN" sz="800" dirty="0"/>
              <a:t>Eligible VM or SQL resource → Configuration / Licensing options</a:t>
            </a:r>
          </a:p>
          <a:p>
            <a:r>
              <a:rPr lang="en-IN" sz="800" dirty="0"/>
              <a:t>✅ Review eligible existing Windows Server and SQL Server licenses, create budget alerts, and track actual versus forecast spending.</a:t>
            </a:r>
          </a:p>
          <a:p>
            <a:r>
              <a:rPr lang="en-IN" sz="800" dirty="0"/>
              <a:t>💡 </a:t>
            </a:r>
            <a:r>
              <a:rPr lang="en-IN" sz="800" b="1" dirty="0"/>
              <a:t>BONUS: The Production-Safe Optimization Checklist</a:t>
            </a:r>
            <a:endParaRPr lang="en-IN" sz="800" dirty="0"/>
          </a:p>
          <a:p>
            <a:r>
              <a:rPr lang="en-IN" sz="800" dirty="0"/>
              <a:t>Before implementing any cost-saving change:</a:t>
            </a:r>
          </a:p>
          <a:p>
            <a:r>
              <a:rPr lang="en-IN" sz="800" dirty="0"/>
              <a:t>✔️ </a:t>
            </a:r>
            <a:r>
              <a:rPr lang="en-IN" sz="800" dirty="0" err="1"/>
              <a:t>Analyze</a:t>
            </a:r>
            <a:r>
              <a:rPr lang="en-IN" sz="800" dirty="0"/>
              <a:t> utilization and workload patterns</a:t>
            </a:r>
            <a:br>
              <a:rPr lang="en-IN" sz="800" dirty="0"/>
            </a:br>
            <a:r>
              <a:rPr lang="en-IN" sz="800" dirty="0"/>
              <a:t>✔️ Validate changes in a non-production environment</a:t>
            </a:r>
            <a:br>
              <a:rPr lang="en-IN" sz="800" dirty="0"/>
            </a:br>
            <a:r>
              <a:rPr lang="en-IN" sz="800" dirty="0"/>
              <a:t>✔️ Monitor latency, throughput, CPU, memory, and availability</a:t>
            </a:r>
            <a:br>
              <a:rPr lang="en-IN" sz="800" dirty="0"/>
            </a:br>
            <a:r>
              <a:rPr lang="en-IN" sz="800" dirty="0"/>
              <a:t>✔️ Compare costs before and after optimization</a:t>
            </a:r>
            <a:br>
              <a:rPr lang="en-IN" sz="800" dirty="0"/>
            </a:br>
            <a:r>
              <a:rPr lang="en-IN" sz="800" dirty="0"/>
              <a:t>✔️ Maintain rollback plans for production changes</a:t>
            </a:r>
          </a:p>
          <a:p>
            <a:r>
              <a:rPr lang="en-IN" sz="800" dirty="0"/>
              <a:t>🎯 </a:t>
            </a:r>
            <a:r>
              <a:rPr lang="en-IN" sz="800" b="1" dirty="0"/>
              <a:t>The DevOps mindset:</a:t>
            </a:r>
            <a:endParaRPr lang="en-IN" sz="800" dirty="0"/>
          </a:p>
          <a:p>
            <a:r>
              <a:rPr lang="en-IN" sz="800" dirty="0"/>
              <a:t>Don't optimize cost at the expense of reliability.</a:t>
            </a:r>
          </a:p>
          <a:p>
            <a:r>
              <a:rPr lang="en-IN" sz="800" b="1" dirty="0"/>
              <a:t>Reduce waste. Improve utilization. Protect performance.</a:t>
            </a:r>
            <a:endParaRPr lang="en-IN" sz="800" dirty="0"/>
          </a:p>
          <a:p>
            <a:r>
              <a:rPr lang="en-IN" sz="800" dirty="0"/>
              <a:t>💬 </a:t>
            </a:r>
            <a:r>
              <a:rPr lang="en-IN" sz="800" b="1" dirty="0"/>
              <a:t>Your turn:</a:t>
            </a:r>
            <a:r>
              <a:rPr lang="en-IN" sz="800" dirty="0"/>
              <a:t> Which Azure cost optimization technique would you check first in a production environment?</a:t>
            </a:r>
          </a:p>
          <a:p>
            <a:r>
              <a:rPr lang="en-IN" sz="800" dirty="0"/>
              <a:t>#Azure #DevOps #AzureCloud #FinOps #CloudCostOptimization #CloudArchitecture #AzureMonitor #Terraform #ContinuousLearning</a:t>
            </a:r>
          </a:p>
        </p:txBody>
      </p:sp>
      <p:pic>
        <p:nvPicPr>
          <p:cNvPr id="15" name="Picture 14">
            <a:extLst>
              <a:ext uri="{FF2B5EF4-FFF2-40B4-BE49-F238E27FC236}">
                <a16:creationId xmlns:a16="http://schemas.microsoft.com/office/drawing/2014/main" id="{C959EC4B-C8BC-9B2A-FC43-27572A0BEAFD}"/>
              </a:ext>
            </a:extLst>
          </p:cNvPr>
          <p:cNvPicPr>
            <a:picLocks noChangeAspect="1"/>
          </p:cNvPicPr>
          <p:nvPr/>
        </p:nvPicPr>
        <p:blipFill>
          <a:blip r:embed="rId2"/>
          <a:stretch>
            <a:fillRect/>
          </a:stretch>
        </p:blipFill>
        <p:spPr>
          <a:xfrm>
            <a:off x="7294765" y="1575982"/>
            <a:ext cx="4537763" cy="4544899"/>
          </a:xfrm>
          <a:prstGeom prst="rect">
            <a:avLst/>
          </a:prstGeom>
        </p:spPr>
      </p:pic>
    </p:spTree>
    <p:extLst>
      <p:ext uri="{BB962C8B-B14F-4D97-AF65-F5344CB8AC3E}">
        <p14:creationId xmlns:p14="http://schemas.microsoft.com/office/powerpoint/2010/main" val="407244522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6273-CCE6-41DB-FE40-D4E0C667635B}"/>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E9B76484-C09B-99CC-D734-B11D36969095}"/>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A273FC73-E440-1521-43BD-0E4EC19C2C29}"/>
              </a:ext>
            </a:extLst>
          </p:cNvPr>
          <p:cNvSpPr txBox="1">
            <a:spLocks/>
          </p:cNvSpPr>
          <p:nvPr/>
        </p:nvSpPr>
        <p:spPr>
          <a:xfrm>
            <a:off x="3099816" y="212747"/>
            <a:ext cx="9022969" cy="11661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IN" sz="2400" dirty="0"/>
              <a:t>Azure Availability Set Explained with a Simple Example!</a:t>
            </a:r>
            <a:br>
              <a:rPr lang="en-IN" sz="2400" dirty="0"/>
            </a:b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21" name="TextBox 20">
            <a:extLst>
              <a:ext uri="{FF2B5EF4-FFF2-40B4-BE49-F238E27FC236}">
                <a16:creationId xmlns:a16="http://schemas.microsoft.com/office/drawing/2014/main" id="{DEFB4FA6-8904-E4BF-CBC1-A646457A7855}"/>
              </a:ext>
            </a:extLst>
          </p:cNvPr>
          <p:cNvSpPr txBox="1"/>
          <p:nvPr/>
        </p:nvSpPr>
        <p:spPr>
          <a:xfrm>
            <a:off x="237688" y="568277"/>
            <a:ext cx="6918891" cy="6340197"/>
          </a:xfrm>
          <a:prstGeom prst="rect">
            <a:avLst/>
          </a:prstGeom>
          <a:noFill/>
        </p:spPr>
        <p:txBody>
          <a:bodyPr wrap="square">
            <a:spAutoFit/>
          </a:bodyPr>
          <a:lstStyle/>
          <a:p>
            <a:pPr fontAlgn="base"/>
            <a:r>
              <a:rPr lang="en-IN" sz="1400" dirty="0"/>
              <a:t>☁️ </a:t>
            </a:r>
            <a:r>
              <a:rPr lang="en-IN" sz="1400" b="1" dirty="0"/>
              <a:t>Azure Availability Set Explained with a Simple Example!</a:t>
            </a:r>
            <a:br>
              <a:rPr lang="en-IN" sz="1400" dirty="0"/>
            </a:br>
            <a:r>
              <a:rPr lang="en-IN" sz="1400" dirty="0"/>
              <a:t>Imagine you have a website running on 2 Azure Virtual Machines (VMs).</a:t>
            </a:r>
            <a:br>
              <a:rPr lang="en-IN" sz="1400" dirty="0"/>
            </a:br>
            <a:r>
              <a:rPr lang="en-IN" sz="1400" dirty="0"/>
              <a:t>What if one server fails? Or Azure needs to restart a server for maintenance?</a:t>
            </a:r>
            <a:br>
              <a:rPr lang="en-IN" sz="1400" dirty="0"/>
            </a:br>
            <a:br>
              <a:rPr lang="en-IN" sz="1400" dirty="0"/>
            </a:br>
            <a:r>
              <a:rPr lang="en-IN" sz="1400" dirty="0"/>
              <a:t>🏢 </a:t>
            </a:r>
            <a:r>
              <a:rPr lang="en-IN" sz="1400" b="1" dirty="0"/>
              <a:t>1. Fault Domain (FD)</a:t>
            </a:r>
            <a:br>
              <a:rPr lang="en-IN" sz="1400" dirty="0"/>
            </a:br>
            <a:r>
              <a:rPr lang="en-IN" sz="1400" dirty="0"/>
              <a:t>Think of it as different server racks with separate power and network infrastructure.</a:t>
            </a:r>
            <a:br>
              <a:rPr lang="en-IN" sz="1400" dirty="0"/>
            </a:br>
            <a:r>
              <a:rPr lang="en-IN" sz="1400" dirty="0"/>
              <a:t>If one rack fails, the other rack may continue working.</a:t>
            </a:r>
            <a:br>
              <a:rPr lang="en-IN" sz="1400" dirty="0"/>
            </a:br>
            <a:r>
              <a:rPr lang="en-IN" sz="1400" dirty="0"/>
              <a:t>👉 Fault Domain = Protection against hardware failure.</a:t>
            </a:r>
            <a:br>
              <a:rPr lang="en-IN" sz="1400" dirty="0"/>
            </a:br>
            <a:br>
              <a:rPr lang="en-IN" sz="1400" dirty="0"/>
            </a:br>
            <a:r>
              <a:rPr lang="en-IN" sz="1400" dirty="0"/>
              <a:t>🔄 </a:t>
            </a:r>
            <a:r>
              <a:rPr lang="en-IN" sz="1400" b="1" dirty="0"/>
              <a:t>2. Update Domain (UD)</a:t>
            </a:r>
            <a:br>
              <a:rPr lang="en-IN" sz="1400" dirty="0"/>
            </a:br>
            <a:r>
              <a:rPr lang="en-IN" sz="1400" dirty="0"/>
              <a:t>Imagine Azure needs to restart servers for planned maintenance.</a:t>
            </a:r>
            <a:br>
              <a:rPr lang="en-IN" sz="1400" dirty="0"/>
            </a:br>
            <a:r>
              <a:rPr lang="en-IN" sz="1400" dirty="0"/>
              <a:t>Azure divides them into groups so that all servers are not restarted together.</a:t>
            </a:r>
            <a:br>
              <a:rPr lang="en-IN" sz="1400" dirty="0"/>
            </a:br>
            <a:r>
              <a:rPr lang="en-IN" sz="1400" dirty="0"/>
              <a:t>👉 Update Domain = Helps reduce downtime during planned maintenance.</a:t>
            </a:r>
            <a:br>
              <a:rPr lang="en-IN" sz="1400" dirty="0"/>
            </a:br>
            <a:br>
              <a:rPr lang="en-IN" sz="1400" dirty="0"/>
            </a:br>
            <a:r>
              <a:rPr lang="en-IN" sz="1400" dirty="0"/>
              <a:t>☁️ </a:t>
            </a:r>
            <a:r>
              <a:rPr lang="en-IN" sz="1400" b="1" dirty="0"/>
              <a:t>3. Availability Set</a:t>
            </a:r>
            <a:br>
              <a:rPr lang="en-IN" sz="1400" dirty="0"/>
            </a:br>
            <a:r>
              <a:rPr lang="en-IN" sz="1400" dirty="0"/>
              <a:t>It groups your VMs and helps Azure distribute them across Fault Domains and Update Domains.</a:t>
            </a:r>
            <a:br>
              <a:rPr lang="en-IN" sz="1400" dirty="0"/>
            </a:br>
            <a:r>
              <a:rPr lang="en-IN" sz="1400" b="1" dirty="0"/>
              <a:t>Real-life example:</a:t>
            </a:r>
            <a:br>
              <a:rPr lang="en-IN" sz="1400" dirty="0"/>
            </a:br>
            <a:r>
              <a:rPr lang="en-IN" sz="1400" dirty="0"/>
              <a:t>VM 1 → Fault Domain 0 + Update Domain 0</a:t>
            </a:r>
            <a:br>
              <a:rPr lang="en-IN" sz="1400" dirty="0"/>
            </a:br>
            <a:r>
              <a:rPr lang="en-IN" sz="1400" dirty="0"/>
              <a:t>VM 2 → Fault Domain 1 + Update Domain 1</a:t>
            </a:r>
            <a:br>
              <a:rPr lang="en-IN" sz="1400" dirty="0"/>
            </a:br>
            <a:r>
              <a:rPr lang="en-IN" sz="1400" dirty="0"/>
              <a:t>If one VM becomes unavailable, the other may continue serving users, provided the application is configured correctly.</a:t>
            </a:r>
            <a:br>
              <a:rPr lang="en-IN" sz="1400" dirty="0"/>
            </a:br>
            <a:br>
              <a:rPr lang="en-IN" sz="1400" dirty="0"/>
            </a:br>
            <a:r>
              <a:rPr lang="en-IN" sz="1400" dirty="0"/>
              <a:t>🎯 </a:t>
            </a:r>
            <a:r>
              <a:rPr lang="en-IN" sz="1400" b="1" dirty="0"/>
              <a:t>Remember:</a:t>
            </a:r>
            <a:br>
              <a:rPr lang="en-IN" sz="1400" dirty="0"/>
            </a:br>
            <a:r>
              <a:rPr lang="en-IN" sz="1400" dirty="0"/>
              <a:t>• Availability Set = Groups the VMs in the same data centre</a:t>
            </a:r>
            <a:br>
              <a:rPr lang="en-IN" sz="1400" dirty="0"/>
            </a:br>
            <a:r>
              <a:rPr lang="en-IN" sz="1400" dirty="0"/>
              <a:t>• Fault Domain = Hardware failure</a:t>
            </a:r>
            <a:br>
              <a:rPr lang="en-IN" sz="1400" dirty="0"/>
            </a:br>
            <a:r>
              <a:rPr lang="en-IN" sz="1400" dirty="0"/>
              <a:t>• Update Domain = Planned maintenance</a:t>
            </a:r>
            <a:br>
              <a:rPr lang="en-IN" sz="1400" dirty="0"/>
            </a:br>
            <a:br>
              <a:rPr lang="en-IN" sz="1400" dirty="0"/>
            </a:br>
            <a:endParaRPr kumimoji="1" lang="en-US" sz="1400" dirty="0">
              <a:solidFill>
                <a:srgbClr val="000000"/>
              </a:solidFill>
              <a:cs typeface="Calibri" panose="020F0502020204030204" pitchFamily="34" charset="0"/>
            </a:endParaRPr>
          </a:p>
        </p:txBody>
      </p:sp>
      <p:cxnSp>
        <p:nvCxnSpPr>
          <p:cNvPr id="22" name="Straight Connector 21">
            <a:extLst>
              <a:ext uri="{FF2B5EF4-FFF2-40B4-BE49-F238E27FC236}">
                <a16:creationId xmlns:a16="http://schemas.microsoft.com/office/drawing/2014/main" id="{BA6A2234-813E-A5CA-6730-516A562B1317}"/>
              </a:ext>
            </a:extLst>
          </p:cNvPr>
          <p:cNvCxnSpPr>
            <a:cxnSpLocks/>
          </p:cNvCxnSpPr>
          <p:nvPr/>
        </p:nvCxnSpPr>
        <p:spPr>
          <a:xfrm>
            <a:off x="6545626" y="593122"/>
            <a:ext cx="0" cy="5797388"/>
          </a:xfrm>
          <a:prstGeom prst="line">
            <a:avLst/>
          </a:prstGeom>
          <a:ln w="412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B5148D8A-F92B-15CB-8C3C-A23F7283CDAE}"/>
              </a:ext>
            </a:extLst>
          </p:cNvPr>
          <p:cNvPicPr>
            <a:picLocks noChangeAspect="1"/>
          </p:cNvPicPr>
          <p:nvPr/>
        </p:nvPicPr>
        <p:blipFill>
          <a:blip r:embed="rId2"/>
          <a:stretch>
            <a:fillRect/>
          </a:stretch>
        </p:blipFill>
        <p:spPr>
          <a:xfrm>
            <a:off x="6737029" y="1369462"/>
            <a:ext cx="5006774" cy="4244708"/>
          </a:xfrm>
          <a:prstGeom prst="rect">
            <a:avLst/>
          </a:prstGeom>
        </p:spPr>
      </p:pic>
    </p:spTree>
    <p:extLst>
      <p:ext uri="{BB962C8B-B14F-4D97-AF65-F5344CB8AC3E}">
        <p14:creationId xmlns:p14="http://schemas.microsoft.com/office/powerpoint/2010/main" val="257835652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66AA8-43F7-00A5-D9F8-2B3D5203CF42}"/>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0A97F39-E391-2692-A3FD-00D8F7346C8F}"/>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13" name="TextBox 12">
            <a:extLst>
              <a:ext uri="{FF2B5EF4-FFF2-40B4-BE49-F238E27FC236}">
                <a16:creationId xmlns:a16="http://schemas.microsoft.com/office/drawing/2014/main" id="{5F6926F3-9211-2651-3AA2-8715BB8B72AB}"/>
              </a:ext>
            </a:extLst>
          </p:cNvPr>
          <p:cNvSpPr txBox="1"/>
          <p:nvPr/>
        </p:nvSpPr>
        <p:spPr>
          <a:xfrm>
            <a:off x="4725265" y="0"/>
            <a:ext cx="8200098" cy="400110"/>
          </a:xfrm>
          <a:prstGeom prst="rect">
            <a:avLst/>
          </a:prstGeom>
          <a:noFill/>
        </p:spPr>
        <p:txBody>
          <a:bodyPr wrap="square">
            <a:spAutoFit/>
          </a:bodyPr>
          <a:lstStyle/>
          <a:p>
            <a:r>
              <a:rPr kumimoji="1" lang="en-US" sz="2000" dirty="0">
                <a:solidFill>
                  <a:srgbClr val="FF008C"/>
                </a:solidFill>
                <a:latin typeface="Rakuten Sans" panose="020B0503020203020204" pitchFamily="34" charset="0"/>
                <a:ea typeface="+mj-ea"/>
                <a:sym typeface="メイリオ"/>
              </a:rPr>
              <a:t>Introduction</a:t>
            </a:r>
          </a:p>
        </p:txBody>
      </p:sp>
      <p:sp>
        <p:nvSpPr>
          <p:cNvPr id="3" name="TextBox 2">
            <a:extLst>
              <a:ext uri="{FF2B5EF4-FFF2-40B4-BE49-F238E27FC236}">
                <a16:creationId xmlns:a16="http://schemas.microsoft.com/office/drawing/2014/main" id="{5FC3524A-6B43-9ED0-91D1-A6058509C382}"/>
              </a:ext>
            </a:extLst>
          </p:cNvPr>
          <p:cNvSpPr txBox="1"/>
          <p:nvPr/>
        </p:nvSpPr>
        <p:spPr>
          <a:xfrm>
            <a:off x="410547" y="400110"/>
            <a:ext cx="11476653" cy="5124480"/>
          </a:xfrm>
          <a:prstGeom prst="rect">
            <a:avLst/>
          </a:prstGeom>
          <a:noFill/>
        </p:spPr>
        <p:txBody>
          <a:bodyPr wrap="square">
            <a:spAutoFit/>
          </a:bodyPr>
          <a:lstStyle/>
          <a:p>
            <a:endParaRPr lang="en-IN" sz="1400" dirty="0"/>
          </a:p>
          <a:p>
            <a:endParaRPr lang="en-IN" sz="1400" dirty="0"/>
          </a:p>
          <a:p>
            <a:r>
              <a:rPr lang="en-IN" sz="1400" dirty="0"/>
              <a:t>Good evening. I’m Gaurav Vishwamitra, a DevSecOps Engineer with over 14 years of IT experience in telecom domain, including 5 years of hands-on work building secure, automated cloud platforms on Azure.</a:t>
            </a:r>
          </a:p>
          <a:p>
            <a:endParaRPr lang="en-IN" sz="1400" dirty="0"/>
          </a:p>
          <a:p>
            <a:endParaRPr lang="en-IN" sz="1400" dirty="0"/>
          </a:p>
          <a:p>
            <a:r>
              <a:rPr lang="en-IN" sz="1400" dirty="0"/>
              <a:t>I worked with enterprise architects on Azure Landing Zone design, covering management hierarchy, governance, security, networking, monitoring, backup, and disaster recovery. Once the HLD and LLD are approved, I automate the deployment so what is designed is exactly what runs in production.</a:t>
            </a:r>
          </a:p>
          <a:p>
            <a:r>
              <a:rPr lang="en-IN" sz="1400" dirty="0"/>
              <a:t>My core strength is Terraform. I design infrastructure code to be modular and reusable, with remote state in Azure Storage using state locking, and I use </a:t>
            </a:r>
            <a:r>
              <a:rPr lang="en-IN" sz="1400" dirty="0" err="1"/>
              <a:t>for_each</a:t>
            </a:r>
            <a:r>
              <a:rPr lang="en-IN" sz="1400" dirty="0"/>
              <a:t>, nested maps, locals, and lifecycle controls so teams can onboard new environments quickly without duplicating code. I provision Azure IaaS, PaaS, and SaaS services this way.</a:t>
            </a:r>
          </a:p>
          <a:p>
            <a:endParaRPr lang="en-IN" sz="1400" dirty="0"/>
          </a:p>
          <a:p>
            <a:r>
              <a:rPr lang="en-IN" sz="1400" dirty="0"/>
              <a:t>I manage infrastructure CI/CD through GitHub and Azure DevOps YAML pipelines, with </a:t>
            </a:r>
            <a:r>
              <a:rPr lang="en-IN" sz="1400" dirty="0" err="1"/>
              <a:t>TFLint</a:t>
            </a:r>
            <a:r>
              <a:rPr lang="en-IN" sz="1400" dirty="0"/>
              <a:t>, </a:t>
            </a:r>
            <a:r>
              <a:rPr lang="en-IN" sz="1400" dirty="0" err="1"/>
              <a:t>TFSec</a:t>
            </a:r>
            <a:r>
              <a:rPr lang="en-IN" sz="1400" dirty="0"/>
              <a:t>, </a:t>
            </a:r>
            <a:r>
              <a:rPr lang="en-IN" sz="1400" dirty="0" err="1"/>
              <a:t>Checkov</a:t>
            </a:r>
            <a:r>
              <a:rPr lang="en-IN" sz="1400" dirty="0"/>
              <a:t>, </a:t>
            </a:r>
            <a:r>
              <a:rPr lang="en-IN" sz="1400" dirty="0" err="1"/>
              <a:t>Terratest</a:t>
            </a:r>
            <a:r>
              <a:rPr lang="en-IN" sz="1400" dirty="0"/>
              <a:t>, and Super-Linter validating every change before deployment. For applications, I build multi-stage pipelines for build, test, artifact publishing, and deployment to Azure VMs, VM Scale Sets, AKS, App Service, Container Apps, and Static Web Apps.</a:t>
            </a:r>
          </a:p>
          <a:p>
            <a:endParaRPr lang="en-IN" sz="1400" dirty="0"/>
          </a:p>
          <a:p>
            <a:r>
              <a:rPr lang="en-IN" sz="1400" dirty="0"/>
              <a:t>Security is built into every stage: SAST with SonarQube and </a:t>
            </a:r>
            <a:r>
              <a:rPr lang="en-IN" sz="1400" dirty="0" err="1"/>
              <a:t>Snyk</a:t>
            </a:r>
            <a:r>
              <a:rPr lang="en-IN" sz="1400" dirty="0"/>
              <a:t>, DAST with OWASP ZAP, and secret scanning with </a:t>
            </a:r>
            <a:r>
              <a:rPr lang="en-IN" sz="1400" dirty="0" err="1"/>
              <a:t>TruffleHog</a:t>
            </a:r>
            <a:r>
              <a:rPr lang="en-IN" sz="1400" dirty="0"/>
              <a:t>. I use Key Vault and Managed Identity to avoid hard-coded credentials, and I support teams with monitoring, troubleshooting, and release management.</a:t>
            </a:r>
          </a:p>
          <a:p>
            <a:endParaRPr lang="en-IN" sz="1400" dirty="0"/>
          </a:p>
          <a:p>
            <a:r>
              <a:rPr lang="en-IN" sz="1400" dirty="0"/>
              <a:t>My goal is always the same: help teams deliver faster, 	with consistency and security built in. I’m excited to bring this experience to your team. Thank you.</a:t>
            </a:r>
          </a:p>
          <a:p>
            <a:endParaRPr lang="en-IN" sz="1100" dirty="0"/>
          </a:p>
          <a:p>
            <a:endParaRPr lang="en-IN" sz="1100" dirty="0"/>
          </a:p>
          <a:p>
            <a:endParaRPr lang="en-IN" sz="1100" dirty="0"/>
          </a:p>
        </p:txBody>
      </p:sp>
    </p:spTree>
    <p:extLst>
      <p:ext uri="{BB962C8B-B14F-4D97-AF65-F5344CB8AC3E}">
        <p14:creationId xmlns:p14="http://schemas.microsoft.com/office/powerpoint/2010/main" val="31547778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490B5-AF82-54B8-56B1-352E6AEECA31}"/>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27B93EE0-D462-89B4-6389-4AA8382701B7}"/>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0B81CB42-1FD1-CE6D-50E8-4D61B2E9A68D}"/>
              </a:ext>
            </a:extLst>
          </p:cNvPr>
          <p:cNvSpPr txBox="1">
            <a:spLocks/>
          </p:cNvSpPr>
          <p:nvPr/>
        </p:nvSpPr>
        <p:spPr>
          <a:xfrm>
            <a:off x="3099816" y="212747"/>
            <a:ext cx="9022969" cy="116611"/>
          </a:xfrm>
          <a:prstGeom prst="rect">
            <a:avLst/>
          </a:prstGeom>
          <a:solidFill>
            <a:schemeClr val="bg1"/>
          </a:solidFill>
          <a:ln w="12700">
            <a:miter lim="400000"/>
          </a:ln>
          <a:extLst>
            <a:ext uri="{C572A759-6A51-4108-AA02-DFA0A04FC94B}">
              <ma14:wrappingTextBoxFlag xmlns="" xmlns:ma14="http://schemas.microsoft.com/office/mac/drawingml/2011/main"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400" dirty="0"/>
              <a:t>CI/CD Pipeline Steps Using Reusable Templates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21" name="TextBox 20">
            <a:extLst>
              <a:ext uri="{FF2B5EF4-FFF2-40B4-BE49-F238E27FC236}">
                <a16:creationId xmlns:a16="http://schemas.microsoft.com/office/drawing/2014/main" id="{B03B529F-BA23-D281-BE95-85FCCD810557}"/>
              </a:ext>
            </a:extLst>
          </p:cNvPr>
          <p:cNvSpPr txBox="1"/>
          <p:nvPr/>
        </p:nvSpPr>
        <p:spPr>
          <a:xfrm>
            <a:off x="237688" y="568277"/>
            <a:ext cx="6438081" cy="5768182"/>
          </a:xfrm>
          <a:prstGeom prst="rect">
            <a:avLst/>
          </a:prstGeom>
          <a:noFill/>
        </p:spPr>
        <p:txBody>
          <a:bodyPr wrap="square">
            <a:spAutoFit/>
          </a:bodyPr>
          <a:lstStyle/>
          <a:p>
            <a:r>
              <a:rPr lang="en-US" sz="1400" dirty="0"/>
              <a:t>🚀 </a:t>
            </a:r>
            <a:r>
              <a:rPr lang="en-US" sz="1400" b="1" dirty="0"/>
              <a:t>How to Eliminate Duplicate CI/CD Pipeline Steps Using Reusable Templates</a:t>
            </a:r>
            <a:endParaRPr lang="en-US" sz="1400" dirty="0"/>
          </a:p>
          <a:p>
            <a:r>
              <a:rPr lang="en-US" sz="1400" dirty="0"/>
              <a:t>Many DevOps teams copy-paste the same pipeline steps across multiple projects. This creates maintenance overhead, inconsistent security checks, and unnecessary duplication.</a:t>
            </a:r>
          </a:p>
          <a:p>
            <a:r>
              <a:rPr lang="en-US" sz="1400" dirty="0"/>
              <a:t>💡 </a:t>
            </a:r>
            <a:r>
              <a:rPr lang="en-US" sz="1400" b="1" dirty="0"/>
              <a:t>The solution? Reusable CI/CD templates.</a:t>
            </a:r>
            <a:endParaRPr lang="en-US" sz="1400" dirty="0"/>
          </a:p>
          <a:p>
            <a:r>
              <a:rPr lang="en-US" sz="1400" dirty="0"/>
              <a:t>Here’s how to implement them using Azure DevOps YAML:</a:t>
            </a:r>
          </a:p>
          <a:p>
            <a:r>
              <a:rPr lang="en-US" sz="1400" dirty="0"/>
              <a:t>✅ </a:t>
            </a:r>
            <a:r>
              <a:rPr lang="en-US" sz="1400" b="1" dirty="0"/>
              <a:t>Step 1:</a:t>
            </a:r>
            <a:r>
              <a:rPr lang="en-US" sz="1400" dirty="0"/>
              <a:t> Create a shared repository for common pipeline templates.</a:t>
            </a:r>
          </a:p>
          <a:p>
            <a:r>
              <a:rPr lang="en-US" sz="1400" dirty="0"/>
              <a:t>✅ </a:t>
            </a:r>
            <a:r>
              <a:rPr lang="en-US" sz="1400" b="1" dirty="0"/>
              <a:t>Step 2:</a:t>
            </a:r>
            <a:r>
              <a:rPr lang="en-US" sz="1400" dirty="0"/>
              <a:t> Extract reusable steps such as build, test, and security scanning into YAML templates.</a:t>
            </a:r>
          </a:p>
          <a:p>
            <a:r>
              <a:rPr lang="en-US" sz="1400" dirty="0"/>
              <a:t>✅ </a:t>
            </a:r>
            <a:r>
              <a:rPr lang="en-US" sz="1400" b="1" dirty="0"/>
              <a:t>Step 3:</a:t>
            </a:r>
            <a:r>
              <a:rPr lang="en-US" sz="1400" dirty="0"/>
              <a:t> Let teams reuse templates by passing parameters for application-specific configurations.</a:t>
            </a:r>
          </a:p>
          <a:p>
            <a:r>
              <a:rPr lang="en-US" sz="1400" dirty="0"/>
              <a:t>✅ </a:t>
            </a:r>
            <a:r>
              <a:rPr lang="en-US" sz="1400" b="1" dirty="0"/>
              <a:t>Step 4:</a:t>
            </a:r>
            <a:r>
              <a:rPr lang="en-US" sz="1400" dirty="0"/>
              <a:t> Manage templates in Git with proper versioning and controlled releases.</a:t>
            </a:r>
          </a:p>
          <a:p>
            <a:r>
              <a:rPr lang="en-US" sz="1400" dirty="0"/>
              <a:t>✅ </a:t>
            </a:r>
            <a:r>
              <a:rPr lang="en-US" sz="1400" b="1" dirty="0"/>
              <a:t>Step 5:</a:t>
            </a:r>
            <a:r>
              <a:rPr lang="en-US" sz="1400" dirty="0"/>
              <a:t> Test template changes in a non-production pipeline before rolling them out.</a:t>
            </a:r>
          </a:p>
          <a:p>
            <a:r>
              <a:rPr lang="en-US" sz="1400" dirty="0"/>
              <a:t>✅ </a:t>
            </a:r>
            <a:r>
              <a:rPr lang="en-US" sz="1400" b="1" dirty="0"/>
              <a:t>Step 6:</a:t>
            </a:r>
            <a:r>
              <a:rPr lang="en-US" sz="1400" dirty="0"/>
              <a:t> Enforce security scans, approval gates, and deployment policies.</a:t>
            </a:r>
          </a:p>
          <a:p>
            <a:r>
              <a:rPr lang="en-US" sz="1400" dirty="0"/>
              <a:t>🎯 </a:t>
            </a:r>
            <a:r>
              <a:rPr lang="en-US" sz="1400" b="1" dirty="0"/>
              <a:t>Key Benefits:</a:t>
            </a:r>
            <a:endParaRPr lang="en-US" sz="1400" dirty="0"/>
          </a:p>
          <a:p>
            <a:pPr lvl="0"/>
            <a:r>
              <a:rPr lang="en-US" sz="1400" dirty="0"/>
              <a:t>Less duplicated code</a:t>
            </a:r>
          </a:p>
          <a:p>
            <a:pPr lvl="0"/>
            <a:r>
              <a:rPr lang="en-US" sz="1400" dirty="0"/>
              <a:t>Easier maintenance</a:t>
            </a:r>
          </a:p>
          <a:p>
            <a:pPr lvl="0"/>
            <a:r>
              <a:rPr lang="en-US" sz="1400" dirty="0"/>
              <a:t>Consistent quality and security</a:t>
            </a:r>
          </a:p>
          <a:p>
            <a:pPr lvl="0"/>
            <a:r>
              <a:rPr lang="en-US" sz="1400" dirty="0"/>
              <a:t>Faster onboarding for development teams</a:t>
            </a:r>
          </a:p>
          <a:p>
            <a:pPr lvl="0"/>
            <a:r>
              <a:rPr lang="en-US" sz="1400" dirty="0"/>
              <a:t>Better scalability across microservices</a:t>
            </a:r>
          </a:p>
          <a:p>
            <a:r>
              <a:rPr lang="en-US" sz="1400" dirty="0"/>
              <a:t>Remember: </a:t>
            </a:r>
            <a:r>
              <a:rPr lang="en-US" sz="1400" b="1" dirty="0"/>
              <a:t>Build once. Reuse everywhere.</a:t>
            </a:r>
            <a:endParaRPr lang="en-US" sz="1400" dirty="0"/>
          </a:p>
          <a:p>
            <a:r>
              <a:rPr lang="en-US" sz="1400" dirty="0"/>
              <a:t>Follow the DRY principle — </a:t>
            </a:r>
            <a:r>
              <a:rPr lang="en-US" sz="1400" i="1" dirty="0"/>
              <a:t>Don't Repeat Yourself.</a:t>
            </a:r>
            <a:endParaRPr lang="en-US" sz="1400" dirty="0"/>
          </a:p>
          <a:p>
            <a:r>
              <a:rPr lang="en-US" sz="1400" dirty="0"/>
              <a:t>#DevOps #AzureDevOps #CICD #CloudEngineering #Automation #PlatformEngineering #Kubernetes #DevSecOps</a:t>
            </a:r>
          </a:p>
          <a:p>
            <a:pPr marL="171450" indent="-171450">
              <a:lnSpc>
                <a:spcPct val="150000"/>
              </a:lnSpc>
              <a:buFont typeface="Wingdings" panose="05000000000000000000" pitchFamily="2" charset="2"/>
              <a:buChar char="q"/>
              <a:defRPr/>
            </a:pPr>
            <a:endParaRPr kumimoji="1" lang="en-US" sz="1400" dirty="0">
              <a:solidFill>
                <a:srgbClr val="000000"/>
              </a:solidFill>
              <a:cs typeface="Calibri" panose="020F0502020204030204" pitchFamily="34" charset="0"/>
            </a:endParaRPr>
          </a:p>
        </p:txBody>
      </p:sp>
      <p:cxnSp>
        <p:nvCxnSpPr>
          <p:cNvPr id="22" name="Straight Connector 21">
            <a:extLst>
              <a:ext uri="{FF2B5EF4-FFF2-40B4-BE49-F238E27FC236}">
                <a16:creationId xmlns:a16="http://schemas.microsoft.com/office/drawing/2014/main" id="{A9459EF2-681D-177F-6980-3270A7825963}"/>
              </a:ext>
            </a:extLst>
          </p:cNvPr>
          <p:cNvCxnSpPr>
            <a:cxnSpLocks/>
          </p:cNvCxnSpPr>
          <p:nvPr/>
        </p:nvCxnSpPr>
        <p:spPr>
          <a:xfrm>
            <a:off x="6657594" y="539071"/>
            <a:ext cx="0" cy="5797388"/>
          </a:xfrm>
          <a:prstGeom prst="line">
            <a:avLst/>
          </a:prstGeom>
          <a:ln w="41275">
            <a:solidFill>
              <a:schemeClr val="tx1"/>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F03F0170-4247-0C4F-A7BF-B0A8BD4D665E}"/>
              </a:ext>
            </a:extLst>
          </p:cNvPr>
          <p:cNvPicPr>
            <a:picLocks noChangeAspect="1"/>
          </p:cNvPicPr>
          <p:nvPr/>
        </p:nvPicPr>
        <p:blipFill>
          <a:blip r:embed="rId2"/>
          <a:stretch>
            <a:fillRect/>
          </a:stretch>
        </p:blipFill>
        <p:spPr>
          <a:xfrm>
            <a:off x="6693946" y="568277"/>
            <a:ext cx="5238890" cy="5768182"/>
          </a:xfrm>
          <a:prstGeom prst="rect">
            <a:avLst/>
          </a:prstGeom>
        </p:spPr>
      </p:pic>
    </p:spTree>
    <p:extLst>
      <p:ext uri="{BB962C8B-B14F-4D97-AF65-F5344CB8AC3E}">
        <p14:creationId xmlns:p14="http://schemas.microsoft.com/office/powerpoint/2010/main" val="306794998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105B8-D227-E4BB-D2D7-05A52915FD53}"/>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CAABDFE2-B859-EEA7-F7EF-44F2550D7EBB}"/>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63B7561B-434B-BB3F-9E98-1C865890AF1A}"/>
              </a:ext>
            </a:extLst>
          </p:cNvPr>
          <p:cNvSpPr txBox="1">
            <a:spLocks/>
          </p:cNvSpPr>
          <p:nvPr/>
        </p:nvSpPr>
        <p:spPr>
          <a:xfrm>
            <a:off x="3099816" y="212747"/>
            <a:ext cx="9022969" cy="11661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400" dirty="0"/>
              <a:t>CI/CD Pipeline Steps Using Reusable Templates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21" name="TextBox 20">
            <a:extLst>
              <a:ext uri="{FF2B5EF4-FFF2-40B4-BE49-F238E27FC236}">
                <a16:creationId xmlns:a16="http://schemas.microsoft.com/office/drawing/2014/main" id="{0B424D1F-B096-8C49-BEA2-828709137CBE}"/>
              </a:ext>
            </a:extLst>
          </p:cNvPr>
          <p:cNvSpPr txBox="1"/>
          <p:nvPr/>
        </p:nvSpPr>
        <p:spPr>
          <a:xfrm>
            <a:off x="237688" y="749432"/>
            <a:ext cx="11399346" cy="4537076"/>
          </a:xfrm>
          <a:prstGeom prst="rect">
            <a:avLst/>
          </a:prstGeom>
          <a:noFill/>
        </p:spPr>
        <p:txBody>
          <a:bodyPr wrap="square">
            <a:spAutoFit/>
          </a:bodyPr>
          <a:lstStyle/>
          <a:p>
            <a:r>
              <a:rPr lang="en-US" sz="1400" dirty="0"/>
              <a:t>I would reduce pipeline duplication by creating reusable CI/CD templates and shared components for common steps such as code checkout, build, testing, security scanning, and deployment.</a:t>
            </a:r>
          </a:p>
          <a:p>
            <a:r>
              <a:rPr lang="en-US" sz="1400" dirty="0"/>
              <a:t>I would store these templates in a centralized Git repository and allow teams to reuse them through parameters for application-specific configurations. I would also version the templates to ensure controlled updates and backward compatibility.</a:t>
            </a:r>
          </a:p>
          <a:p>
            <a:r>
              <a:rPr lang="en-US" sz="1400" dirty="0"/>
              <a:t>This approach improves maintainability, consistency, security, and developer productivity. Common changes can be implemented centrally instead of modifying every team's pipeline individually.</a:t>
            </a:r>
          </a:p>
          <a:p>
            <a:pPr>
              <a:lnSpc>
                <a:spcPct val="150000"/>
              </a:lnSpc>
              <a:defRPr/>
            </a:pPr>
            <a:r>
              <a:rPr kumimoji="1" lang="en-US" sz="1400" dirty="0">
                <a:solidFill>
                  <a:srgbClr val="000000"/>
                </a:solidFill>
                <a:cs typeface="Calibri" panose="020F0502020204030204" pitchFamily="34" charset="0"/>
              </a:rPr>
              <a:t>Hinglish </a:t>
            </a:r>
            <a:r>
              <a:rPr kumimoji="1" lang="en-US" sz="1400" dirty="0" err="1">
                <a:solidFill>
                  <a:srgbClr val="000000"/>
                </a:solidFill>
                <a:cs typeface="Calibri" panose="020F0502020204030204" pitchFamily="34" charset="0"/>
              </a:rPr>
              <a:t>mai</a:t>
            </a:r>
            <a:r>
              <a:rPr kumimoji="1" lang="en-US" sz="1400" dirty="0">
                <a:solidFill>
                  <a:srgbClr val="000000"/>
                </a:solidFill>
                <a:cs typeface="Calibri" panose="020F0502020204030204" pitchFamily="34" charset="0"/>
              </a:rPr>
              <a:t>:</a:t>
            </a:r>
          </a:p>
          <a:p>
            <a:r>
              <a:rPr lang="en-US" sz="1400" dirty="0"/>
              <a:t>Main pipeline duplication reduce </a:t>
            </a:r>
            <a:r>
              <a:rPr lang="en-US" sz="1400" dirty="0" err="1"/>
              <a:t>karne</a:t>
            </a:r>
            <a:r>
              <a:rPr lang="en-US" sz="1400" dirty="0"/>
              <a:t> </a:t>
            </a:r>
            <a:r>
              <a:rPr lang="en-US" sz="1400" dirty="0" err="1"/>
              <a:t>ke</a:t>
            </a:r>
            <a:r>
              <a:rPr lang="en-US" sz="1400" dirty="0"/>
              <a:t> </a:t>
            </a:r>
            <a:r>
              <a:rPr lang="en-US" sz="1400" dirty="0" err="1"/>
              <a:t>liye</a:t>
            </a:r>
            <a:r>
              <a:rPr lang="en-US" sz="1400" dirty="0"/>
              <a:t> reusable CI/CD templates </a:t>
            </a:r>
            <a:r>
              <a:rPr lang="en-US" sz="1400" dirty="0" err="1"/>
              <a:t>banaunga</a:t>
            </a:r>
            <a:r>
              <a:rPr lang="en-US" sz="1400" dirty="0"/>
              <a:t>. Common steps </a:t>
            </a:r>
            <a:r>
              <a:rPr lang="en-US" sz="1400" dirty="0" err="1"/>
              <a:t>jaise</a:t>
            </a:r>
            <a:r>
              <a:rPr lang="en-US" sz="1400" dirty="0"/>
              <a:t> build, testing, security scanning aur deployment ko centralized templates </a:t>
            </a:r>
            <a:r>
              <a:rPr lang="en-US" sz="1400" dirty="0" err="1"/>
              <a:t>mein</a:t>
            </a:r>
            <a:r>
              <a:rPr lang="en-US" sz="1400" dirty="0"/>
              <a:t> maintain </a:t>
            </a:r>
            <a:r>
              <a:rPr lang="en-US" sz="1400" dirty="0" err="1"/>
              <a:t>karunga</a:t>
            </a:r>
            <a:r>
              <a:rPr lang="en-US" sz="1400" dirty="0"/>
              <a:t>.</a:t>
            </a:r>
          </a:p>
          <a:p>
            <a:r>
              <a:rPr lang="en-US" sz="1400" dirty="0"/>
              <a:t>Teams in templates ko parameters </a:t>
            </a:r>
            <a:r>
              <a:rPr lang="en-US" sz="1400" dirty="0" err="1"/>
              <a:t>ke</a:t>
            </a:r>
            <a:r>
              <a:rPr lang="en-US" sz="1400" dirty="0"/>
              <a:t> through reuse </a:t>
            </a:r>
            <a:r>
              <a:rPr lang="en-US" sz="1400" dirty="0" err="1"/>
              <a:t>karengi</a:t>
            </a:r>
            <a:r>
              <a:rPr lang="en-US" sz="1400" dirty="0"/>
              <a:t>, </a:t>
            </a:r>
            <a:r>
              <a:rPr lang="en-US" sz="1400" dirty="0" err="1"/>
              <a:t>jisse</a:t>
            </a:r>
            <a:r>
              <a:rPr lang="en-US" sz="1400" dirty="0"/>
              <a:t> application-specific configurations </a:t>
            </a:r>
            <a:r>
              <a:rPr lang="en-US" sz="1400" dirty="0" err="1"/>
              <a:t>alag</a:t>
            </a:r>
            <a:r>
              <a:rPr lang="en-US" sz="1400" dirty="0"/>
              <a:t> </a:t>
            </a:r>
            <a:r>
              <a:rPr lang="en-US" sz="1400" dirty="0" err="1"/>
              <a:t>rahengi</a:t>
            </a:r>
            <a:r>
              <a:rPr lang="en-US" sz="1400" dirty="0"/>
              <a:t> aur common logic duplicate </a:t>
            </a:r>
            <a:r>
              <a:rPr lang="en-US" sz="1400" dirty="0" err="1"/>
              <a:t>nahi</a:t>
            </a:r>
            <a:r>
              <a:rPr lang="en-US" sz="1400" dirty="0"/>
              <a:t> </a:t>
            </a:r>
            <a:r>
              <a:rPr lang="en-US" sz="1400" dirty="0" err="1"/>
              <a:t>hoga</a:t>
            </a:r>
            <a:r>
              <a:rPr lang="en-US" sz="1400" dirty="0"/>
              <a:t>. Templates ko Git </a:t>
            </a:r>
            <a:r>
              <a:rPr lang="en-US" sz="1400" dirty="0" err="1"/>
              <a:t>mein</a:t>
            </a:r>
            <a:r>
              <a:rPr lang="en-US" sz="1400" dirty="0"/>
              <a:t> version control </a:t>
            </a:r>
            <a:r>
              <a:rPr lang="en-US" sz="1400" dirty="0" err="1"/>
              <a:t>karunga</a:t>
            </a:r>
            <a:r>
              <a:rPr lang="en-US" sz="1400" dirty="0"/>
              <a:t> aur changes ko properly test </a:t>
            </a:r>
            <a:r>
              <a:rPr lang="en-US" sz="1400" dirty="0" err="1"/>
              <a:t>karke</a:t>
            </a:r>
            <a:r>
              <a:rPr lang="en-US" sz="1400" dirty="0"/>
              <a:t> release </a:t>
            </a:r>
            <a:r>
              <a:rPr lang="en-US" sz="1400" dirty="0" err="1"/>
              <a:t>karunga</a:t>
            </a:r>
            <a:r>
              <a:rPr lang="en-US" sz="1400" dirty="0"/>
              <a:t>.</a:t>
            </a:r>
          </a:p>
          <a:p>
            <a:r>
              <a:rPr lang="en-US" sz="1400" dirty="0"/>
              <a:t>Isse maintenance easy </a:t>
            </a:r>
            <a:r>
              <a:rPr lang="en-US" sz="1400" dirty="0" err="1"/>
              <a:t>hogi</a:t>
            </a:r>
            <a:r>
              <a:rPr lang="en-US" sz="1400" dirty="0"/>
              <a:t>, </a:t>
            </a:r>
            <a:r>
              <a:rPr lang="en-US" sz="1400" dirty="0" err="1"/>
              <a:t>sabhi</a:t>
            </a:r>
            <a:r>
              <a:rPr lang="en-US" sz="1400" dirty="0"/>
              <a:t> teams </a:t>
            </a:r>
            <a:r>
              <a:rPr lang="en-US" sz="1400" dirty="0" err="1"/>
              <a:t>mein</a:t>
            </a:r>
            <a:r>
              <a:rPr lang="en-US" sz="1400" dirty="0"/>
              <a:t> consistency </a:t>
            </a:r>
            <a:r>
              <a:rPr lang="en-US" sz="1400" dirty="0" err="1"/>
              <a:t>rahegi</a:t>
            </a:r>
            <a:r>
              <a:rPr lang="en-US" sz="1400" dirty="0"/>
              <a:t>, security improve </a:t>
            </a:r>
            <a:r>
              <a:rPr lang="en-US" sz="1400" dirty="0" err="1"/>
              <a:t>hogi</a:t>
            </a:r>
            <a:r>
              <a:rPr lang="en-US" sz="1400" dirty="0"/>
              <a:t> aur pipeline changes ko centrally manage </a:t>
            </a:r>
            <a:r>
              <a:rPr lang="en-US" sz="1400" dirty="0" err="1"/>
              <a:t>kar</a:t>
            </a:r>
            <a:r>
              <a:rPr lang="en-US" sz="1400" dirty="0"/>
              <a:t> </a:t>
            </a:r>
            <a:r>
              <a:rPr lang="en-US" sz="1400" dirty="0" err="1"/>
              <a:t>paayenge</a:t>
            </a:r>
            <a:r>
              <a:rPr lang="en-US" sz="1400" dirty="0"/>
              <a:t>.</a:t>
            </a:r>
          </a:p>
          <a:p>
            <a:pPr>
              <a:lnSpc>
                <a:spcPct val="150000"/>
              </a:lnSpc>
              <a:defRPr/>
            </a:pPr>
            <a:endParaRPr kumimoji="1" lang="en-US" sz="1400" dirty="0">
              <a:solidFill>
                <a:srgbClr val="000000"/>
              </a:solidFill>
              <a:cs typeface="Calibri" panose="020F0502020204030204" pitchFamily="34" charset="0"/>
            </a:endParaRPr>
          </a:p>
          <a:p>
            <a:r>
              <a:rPr lang="en-US" sz="1400" b="1" dirty="0"/>
              <a:t>Interviewer ka follow-up question</a:t>
            </a:r>
          </a:p>
          <a:p>
            <a:r>
              <a:rPr lang="en-US" sz="1400" dirty="0"/>
              <a:t>Q: Agar central template </a:t>
            </a:r>
            <a:r>
              <a:rPr lang="en-US" sz="1400" dirty="0" err="1"/>
              <a:t>mein</a:t>
            </a:r>
            <a:r>
              <a:rPr lang="en-US" sz="1400" dirty="0"/>
              <a:t> bug aa </a:t>
            </a:r>
            <a:r>
              <a:rPr lang="en-US" sz="1400" dirty="0" err="1"/>
              <a:t>gaya</a:t>
            </a:r>
            <a:r>
              <a:rPr lang="en-US" sz="1400" dirty="0"/>
              <a:t>, </a:t>
            </a:r>
            <a:r>
              <a:rPr lang="en-US" sz="1400" dirty="0" err="1"/>
              <a:t>toh</a:t>
            </a:r>
            <a:r>
              <a:rPr lang="en-US" sz="1400" dirty="0"/>
              <a:t> </a:t>
            </a:r>
            <a:r>
              <a:rPr lang="en-US" sz="1400" dirty="0" err="1"/>
              <a:t>sabhi</a:t>
            </a:r>
            <a:r>
              <a:rPr lang="en-US" sz="1400" dirty="0"/>
              <a:t> teams ki pipelines fail ho </a:t>
            </a:r>
            <a:r>
              <a:rPr lang="en-US" sz="1400" dirty="0" err="1"/>
              <a:t>sakti</a:t>
            </a:r>
            <a:r>
              <a:rPr lang="en-US" sz="1400" dirty="0"/>
              <a:t> </a:t>
            </a:r>
            <a:r>
              <a:rPr lang="en-US" sz="1400" dirty="0" err="1"/>
              <a:t>hain</a:t>
            </a:r>
            <a:r>
              <a:rPr lang="en-US" sz="1400" dirty="0"/>
              <a:t>. Isse </a:t>
            </a:r>
            <a:r>
              <a:rPr lang="en-US" sz="1400" dirty="0" err="1"/>
              <a:t>kaise</a:t>
            </a:r>
            <a:r>
              <a:rPr lang="en-US" sz="1400" dirty="0"/>
              <a:t> prevent </a:t>
            </a:r>
            <a:r>
              <a:rPr lang="en-US" sz="1400" dirty="0" err="1"/>
              <a:t>karoge</a:t>
            </a:r>
            <a:r>
              <a:rPr lang="en-US" sz="1400" dirty="0"/>
              <a:t>?</a:t>
            </a:r>
          </a:p>
          <a:p>
            <a:r>
              <a:rPr lang="en-US" sz="1400" dirty="0"/>
              <a:t>Answer: Main template ko version </a:t>
            </a:r>
            <a:r>
              <a:rPr lang="en-US" sz="1400" dirty="0" err="1"/>
              <a:t>karunga</a:t>
            </a:r>
            <a:r>
              <a:rPr lang="en-US" sz="1400" dirty="0"/>
              <a:t>, changes ko test environment </a:t>
            </a:r>
            <a:r>
              <a:rPr lang="en-US" sz="1400" dirty="0" err="1"/>
              <a:t>mein</a:t>
            </a:r>
            <a:r>
              <a:rPr lang="en-US" sz="1400" dirty="0"/>
              <a:t> validate </a:t>
            </a:r>
            <a:r>
              <a:rPr lang="en-US" sz="1400" dirty="0" err="1"/>
              <a:t>karunga</a:t>
            </a:r>
            <a:r>
              <a:rPr lang="en-US" sz="1400" dirty="0"/>
              <a:t>, backward-compatible updates prefer </a:t>
            </a:r>
            <a:r>
              <a:rPr lang="en-US" sz="1400" dirty="0" err="1"/>
              <a:t>karunga</a:t>
            </a:r>
            <a:r>
              <a:rPr lang="en-US" sz="1400" dirty="0"/>
              <a:t> aur controlled rollout </a:t>
            </a:r>
            <a:r>
              <a:rPr lang="en-US" sz="1400" dirty="0" err="1"/>
              <a:t>karunga</a:t>
            </a:r>
            <a:r>
              <a:rPr lang="en-US" sz="1400" dirty="0"/>
              <a:t>. Production pipelines ko automatically untested latest template par move </a:t>
            </a:r>
            <a:r>
              <a:rPr lang="en-US" sz="1400" dirty="0" err="1"/>
              <a:t>nahi</a:t>
            </a:r>
            <a:r>
              <a:rPr lang="en-US" sz="1400" dirty="0"/>
              <a:t> </a:t>
            </a:r>
            <a:r>
              <a:rPr lang="en-US" sz="1400" dirty="0" err="1"/>
              <a:t>karunga</a:t>
            </a:r>
            <a:r>
              <a:rPr lang="en-US" sz="1400" dirty="0"/>
              <a:t>.</a:t>
            </a:r>
          </a:p>
          <a:p>
            <a:r>
              <a:rPr lang="en-US" sz="1400" dirty="0"/>
              <a:t>Yaad </a:t>
            </a:r>
            <a:r>
              <a:rPr lang="en-US" sz="1400" dirty="0" err="1"/>
              <a:t>rakhne</a:t>
            </a:r>
            <a:r>
              <a:rPr lang="en-US" sz="1400" dirty="0"/>
              <a:t> ka formula: </a:t>
            </a:r>
            <a:r>
              <a:rPr lang="en-US" dirty="0"/>
              <a:t>DRY principle + Reusable Templates + Parameters + </a:t>
            </a:r>
            <a:r>
              <a:rPr lang="en-US" dirty="0" err="1"/>
              <a:t>Versionin</a:t>
            </a:r>
            <a:endParaRPr lang="en-US" sz="1400" dirty="0"/>
          </a:p>
          <a:p>
            <a:pPr>
              <a:lnSpc>
                <a:spcPct val="150000"/>
              </a:lnSpc>
              <a:defRPr/>
            </a:pPr>
            <a:endParaRPr kumimoji="1" lang="en-US" sz="1400" dirty="0">
              <a:solidFill>
                <a:srgbClr val="000000"/>
              </a:solidFill>
              <a:cs typeface="Calibri" panose="020F0502020204030204" pitchFamily="34" charset="0"/>
            </a:endParaRPr>
          </a:p>
        </p:txBody>
      </p:sp>
    </p:spTree>
    <p:extLst>
      <p:ext uri="{BB962C8B-B14F-4D97-AF65-F5344CB8AC3E}">
        <p14:creationId xmlns:p14="http://schemas.microsoft.com/office/powerpoint/2010/main" val="151844895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C8180-567D-0042-D27E-D844D9E45302}"/>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BB9EDAB4-7C89-1E37-FFB7-DA75A49B51A9}"/>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05549246-68D4-468B-8734-5E1B18C644FA}"/>
              </a:ext>
            </a:extLst>
          </p:cNvPr>
          <p:cNvSpPr txBox="1">
            <a:spLocks/>
          </p:cNvSpPr>
          <p:nvPr/>
        </p:nvSpPr>
        <p:spPr>
          <a:xfrm>
            <a:off x="2306187" y="639094"/>
            <a:ext cx="8166282" cy="45719"/>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000" b="0" dirty="0"/>
              <a:t>Your CI/CD Build Takes 40 </a:t>
            </a:r>
            <a:r>
              <a:rPr lang="en-US" sz="2000" b="0" dirty="0" err="1"/>
              <a:t>MinutesHow</a:t>
            </a:r>
            <a:r>
              <a:rPr lang="en-US" sz="2000" b="0" dirty="0"/>
              <a:t> Would You Speed It Up?**</a:t>
            </a:r>
            <a:br>
              <a:rPr lang="en-US" sz="2400" dirty="0"/>
            </a:br>
            <a:br>
              <a:rPr lang="en-US" sz="2400" dirty="0"/>
            </a:b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5" name="TextBox 4">
            <a:extLst>
              <a:ext uri="{FF2B5EF4-FFF2-40B4-BE49-F238E27FC236}">
                <a16:creationId xmlns:a16="http://schemas.microsoft.com/office/drawing/2014/main" id="{8934CEB7-F0BD-2820-BE68-874E0F7D1D0F}"/>
              </a:ext>
            </a:extLst>
          </p:cNvPr>
          <p:cNvSpPr txBox="1"/>
          <p:nvPr/>
        </p:nvSpPr>
        <p:spPr>
          <a:xfrm>
            <a:off x="237689" y="467490"/>
            <a:ext cx="12874462" cy="6186309"/>
          </a:xfrm>
          <a:prstGeom prst="rect">
            <a:avLst/>
          </a:prstGeom>
          <a:noFill/>
        </p:spPr>
        <p:txBody>
          <a:bodyPr wrap="square">
            <a:spAutoFit/>
          </a:bodyPr>
          <a:lstStyle/>
          <a:p>
            <a:r>
              <a:rPr lang="en-US" sz="1200" b="0" i="0" dirty="0">
                <a:effectLst/>
                <a:latin typeface="+mn-lt"/>
              </a:rPr>
              <a:t>Your CI/CD Build Takes 40 Minutes. Developers Are Unhappy. How Would You Speed It Up?**</a:t>
            </a:r>
            <a:br>
              <a:rPr lang="en-US" sz="1200" dirty="0"/>
            </a:br>
            <a:br>
              <a:rPr lang="en-US" sz="1200" dirty="0"/>
            </a:br>
            <a:r>
              <a:rPr lang="en-US" sz="1200" b="0" i="0" dirty="0">
                <a:effectLst/>
                <a:latin typeface="+mn-lt"/>
              </a:rPr>
              <a:t>Imagine your development team pushes code, starts the CI/CD pipeline, and then waits 40 minutes for the build to finish.</a:t>
            </a:r>
            <a:br>
              <a:rPr lang="en-US" sz="1200" dirty="0"/>
            </a:br>
            <a:r>
              <a:rPr lang="en-US" sz="1200" b="0" i="0" dirty="0">
                <a:effectLst/>
                <a:latin typeface="+mn-lt"/>
              </a:rPr>
              <a:t>Developers are frustrated. Feedback is slow. Releases are delayed.</a:t>
            </a:r>
            <a:br>
              <a:rPr lang="en-US" sz="1200" dirty="0"/>
            </a:br>
            <a:r>
              <a:rPr lang="en-US" sz="1200" b="0" i="0" dirty="0">
                <a:effectLst/>
                <a:latin typeface="+mn-lt"/>
              </a:rPr>
              <a:t>👉 **As a DevOps Engineer, how would you solve this problem?**</a:t>
            </a:r>
            <a:br>
              <a:rPr lang="en-US" sz="1200" dirty="0"/>
            </a:br>
            <a:br>
              <a:rPr lang="en-US" sz="1200" dirty="0"/>
            </a:br>
            <a:r>
              <a:rPr lang="en-US" sz="1200" b="0" i="0" dirty="0">
                <a:effectLst/>
                <a:latin typeface="+mn-lt"/>
              </a:rPr>
              <a:t>Let's break it down! 👇</a:t>
            </a:r>
            <a:br>
              <a:rPr lang="en-US" sz="1200" dirty="0"/>
            </a:br>
            <a:r>
              <a:rPr lang="en-US" sz="1200" b="0" i="0" dirty="0">
                <a:effectLst/>
                <a:latin typeface="+mn-lt"/>
              </a:rPr>
              <a:t>🔍 **1. Identify the Bottleneck**</a:t>
            </a:r>
            <a:br>
              <a:rPr lang="en-US" sz="1200" dirty="0"/>
            </a:br>
            <a:r>
              <a:rPr lang="en-US" sz="1200" b="0" i="0" dirty="0">
                <a:effectLst/>
                <a:latin typeface="+mn-lt"/>
              </a:rPr>
              <a:t>Don't optimize blindly!</a:t>
            </a:r>
            <a:br>
              <a:rPr lang="en-US" sz="1200" dirty="0"/>
            </a:br>
            <a:r>
              <a:rPr lang="en-US" sz="1200" b="0" i="0" dirty="0">
                <a:effectLst/>
                <a:latin typeface="+mn-lt"/>
              </a:rPr>
              <a:t>✅ Analyze pipeline logs and execution times.</a:t>
            </a:r>
            <a:br>
              <a:rPr lang="en-US" sz="1200" dirty="0"/>
            </a:br>
            <a:r>
              <a:rPr lang="en-US" sz="1200" b="0" i="0" dirty="0">
                <a:effectLst/>
                <a:latin typeface="+mn-lt"/>
              </a:rPr>
              <a:t>✅ Identify whether the delay comes from dependency installation, compilation, testing, or deployment.</a:t>
            </a:r>
            <a:br>
              <a:rPr lang="en-US" sz="1200" dirty="0"/>
            </a:br>
            <a:br>
              <a:rPr lang="en-US" sz="1200" dirty="0"/>
            </a:br>
            <a:r>
              <a:rPr lang="en-US" sz="1200" b="0" i="0" dirty="0">
                <a:effectLst/>
                <a:latin typeface="+mn-lt"/>
              </a:rPr>
              <a:t>⚡ **2. Enable Dependency Caching**</a:t>
            </a:r>
            <a:br>
              <a:rPr lang="en-US" sz="1200" dirty="0"/>
            </a:br>
            <a:r>
              <a:rPr lang="en-US" sz="1200" b="0" i="0" dirty="0">
                <a:effectLst/>
                <a:latin typeface="+mn-lt"/>
              </a:rPr>
              <a:t>Why download the same dependencies every time?</a:t>
            </a:r>
            <a:br>
              <a:rPr lang="en-US" sz="1200" dirty="0"/>
            </a:br>
            <a:r>
              <a:rPr lang="en-US" sz="1200" b="0" i="0" dirty="0">
                <a:effectLst/>
                <a:latin typeface="+mn-lt"/>
              </a:rPr>
              <a:t>✅ Cache Maven, </a:t>
            </a:r>
            <a:r>
              <a:rPr lang="en-US" sz="1200" b="0" i="0" dirty="0" err="1">
                <a:effectLst/>
                <a:latin typeface="+mn-lt"/>
              </a:rPr>
              <a:t>npm</a:t>
            </a:r>
            <a:r>
              <a:rPr lang="en-US" sz="1200" b="0" i="0" dirty="0">
                <a:effectLst/>
                <a:latin typeface="+mn-lt"/>
              </a:rPr>
              <a:t>, or NuGet dependencies.</a:t>
            </a:r>
            <a:br>
              <a:rPr lang="en-US" sz="1200" dirty="0"/>
            </a:br>
            <a:r>
              <a:rPr lang="en-US" sz="1200" b="0" i="0" dirty="0">
                <a:effectLst/>
                <a:latin typeface="+mn-lt"/>
              </a:rPr>
              <a:t>✅ Reuse cached dependencies when the dependency files haven't changed.</a:t>
            </a:r>
            <a:br>
              <a:rPr lang="en-US" sz="1200" dirty="0"/>
            </a:br>
            <a:r>
              <a:rPr lang="en-US" sz="1200" b="0" i="0" dirty="0">
                <a:effectLst/>
                <a:latin typeface="+mn-lt"/>
              </a:rPr>
              <a:t>Result: Less downloading and faster builds.</a:t>
            </a:r>
            <a:br>
              <a:rPr lang="en-US" sz="1200" dirty="0"/>
            </a:br>
            <a:br>
              <a:rPr lang="en-US" sz="1200" dirty="0"/>
            </a:br>
            <a:r>
              <a:rPr lang="en-US" sz="1200" b="0" i="0" dirty="0">
                <a:effectLst/>
                <a:latin typeface="+mn-lt"/>
              </a:rPr>
              <a:t>🔄 **3. Run Tasks in Parallel**</a:t>
            </a:r>
            <a:br>
              <a:rPr lang="en-US" sz="1200" dirty="0"/>
            </a:br>
            <a:r>
              <a:rPr lang="en-US" sz="1200" b="0" i="0" dirty="0">
                <a:effectLst/>
                <a:latin typeface="+mn-lt"/>
              </a:rPr>
              <a:t>Why execute independent tasks sequentially?</a:t>
            </a:r>
            <a:br>
              <a:rPr lang="en-US" sz="1200" dirty="0"/>
            </a:br>
            <a:r>
              <a:rPr lang="en-US" sz="1200" b="0" i="0" dirty="0">
                <a:effectLst/>
                <a:latin typeface="+mn-lt"/>
              </a:rPr>
              <a:t>✅ Run independent test suites simultaneously.</a:t>
            </a:r>
            <a:br>
              <a:rPr lang="en-US" sz="1200" dirty="0"/>
            </a:br>
            <a:r>
              <a:rPr lang="en-US" sz="1200" b="0" i="0" dirty="0">
                <a:effectLst/>
                <a:latin typeface="+mn-lt"/>
              </a:rPr>
              <a:t>✅ Build independent microservices in parallel.</a:t>
            </a:r>
            <a:br>
              <a:rPr lang="en-US" sz="1200" dirty="0"/>
            </a:br>
            <a:r>
              <a:rPr lang="en-US" sz="1200" b="0" i="0" dirty="0">
                <a:effectLst/>
                <a:latin typeface="+mn-lt"/>
              </a:rPr>
              <a:t>✅ Use multiple CI/CD agents when appropriate.</a:t>
            </a:r>
            <a:br>
              <a:rPr lang="en-US" sz="1200" dirty="0"/>
            </a:br>
            <a:r>
              <a:rPr lang="en-US" sz="1200" b="0" i="0" dirty="0">
                <a:effectLst/>
                <a:latin typeface="+mn-lt"/>
              </a:rPr>
              <a:t>Result: Reduced total pipeline execution time.</a:t>
            </a:r>
            <a:br>
              <a:rPr lang="en-US" sz="1200" dirty="0"/>
            </a:br>
            <a:br>
              <a:rPr lang="en-US" sz="1200" dirty="0"/>
            </a:br>
            <a:r>
              <a:rPr lang="en-US" sz="1200" b="0" i="0" dirty="0">
                <a:effectLst/>
                <a:latin typeface="+mn-lt"/>
              </a:rPr>
              <a:t>🏗️ **4. Implement Incremental Builds**</a:t>
            </a:r>
            <a:br>
              <a:rPr lang="en-US" sz="1200" dirty="0"/>
            </a:br>
            <a:r>
              <a:rPr lang="en-US" sz="1200" b="0" i="0" dirty="0">
                <a:effectLst/>
                <a:latin typeface="+mn-lt"/>
              </a:rPr>
              <a:t>Why rebuild everything when only one component changes?</a:t>
            </a:r>
            <a:br>
              <a:rPr lang="en-US" sz="1200" dirty="0"/>
            </a:br>
            <a:r>
              <a:rPr lang="en-US" sz="1200" b="0" i="0" dirty="0">
                <a:effectLst/>
                <a:latin typeface="+mn-lt"/>
              </a:rPr>
              <a:t>✅ Identify affected components.</a:t>
            </a:r>
            <a:br>
              <a:rPr lang="en-US" sz="1200" dirty="0"/>
            </a:br>
            <a:r>
              <a:rPr lang="en-US" sz="1200" b="0" i="0" dirty="0">
                <a:effectLst/>
                <a:latin typeface="+mn-lt"/>
              </a:rPr>
              <a:t>✅ Rebuild only the services impacted by code changes.</a:t>
            </a:r>
            <a:br>
              <a:rPr lang="en-US" sz="1200" dirty="0"/>
            </a:br>
            <a:r>
              <a:rPr lang="en-US" sz="1200" b="0" i="0" dirty="0">
                <a:effectLst/>
                <a:latin typeface="+mn-lt"/>
              </a:rPr>
              <a:t>✅ Avoid unnecessary compilation and testing while maintaining required quality checks.</a:t>
            </a:r>
            <a:br>
              <a:rPr lang="en-US" sz="1200" dirty="0"/>
            </a:br>
            <a:r>
              <a:rPr lang="en-US" sz="1200" b="0" i="0" dirty="0">
                <a:effectLst/>
                <a:latin typeface="+mn-lt"/>
              </a:rPr>
              <a:t>Result: Faster feedback for developers.</a:t>
            </a:r>
            <a:br>
              <a:rPr lang="en-US" sz="1200" dirty="0"/>
            </a:br>
            <a:br>
              <a:rPr lang="en-US" sz="1200" dirty="0"/>
            </a:br>
            <a:endParaRPr lang="en-US" sz="1200" dirty="0"/>
          </a:p>
        </p:txBody>
      </p:sp>
      <p:pic>
        <p:nvPicPr>
          <p:cNvPr id="10" name="Picture 9" descr="View image">
            <a:extLst>
              <a:ext uri="{FF2B5EF4-FFF2-40B4-BE49-F238E27FC236}">
                <a16:creationId xmlns:a16="http://schemas.microsoft.com/office/drawing/2014/main" id="{D8978FE0-74CF-5458-62A3-76CD82C25839}"/>
              </a:ext>
            </a:extLst>
          </p:cNvPr>
          <p:cNvPicPr>
            <a:picLocks noChangeAspect="1"/>
          </p:cNvPicPr>
          <p:nvPr/>
        </p:nvPicPr>
        <p:blipFill>
          <a:blip r:embed="rId2"/>
          <a:stretch>
            <a:fillRect/>
          </a:stretch>
        </p:blipFill>
        <p:spPr>
          <a:xfrm>
            <a:off x="7479101" y="1143000"/>
            <a:ext cx="4475210" cy="5149970"/>
          </a:xfrm>
          <a:prstGeom prst="rect">
            <a:avLst/>
          </a:prstGeom>
        </p:spPr>
      </p:pic>
    </p:spTree>
    <p:extLst>
      <p:ext uri="{BB962C8B-B14F-4D97-AF65-F5344CB8AC3E}">
        <p14:creationId xmlns:p14="http://schemas.microsoft.com/office/powerpoint/2010/main" val="143036655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6A7F8-14F1-9F14-2A67-D1A2AA757F28}"/>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FA759C2A-EC0C-B26C-874E-4721346E63BD}"/>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6" name="TextBox 5">
            <a:extLst>
              <a:ext uri="{FF2B5EF4-FFF2-40B4-BE49-F238E27FC236}">
                <a16:creationId xmlns:a16="http://schemas.microsoft.com/office/drawing/2014/main" id="{D213E119-1EEB-430F-FF1F-F94F9E80BC0C}"/>
              </a:ext>
            </a:extLst>
          </p:cNvPr>
          <p:cNvSpPr txBox="1"/>
          <p:nvPr/>
        </p:nvSpPr>
        <p:spPr>
          <a:xfrm>
            <a:off x="577970" y="719071"/>
            <a:ext cx="11059060" cy="4893647"/>
          </a:xfrm>
          <a:prstGeom prst="rect">
            <a:avLst/>
          </a:prstGeom>
          <a:noFill/>
        </p:spPr>
        <p:txBody>
          <a:bodyPr wrap="square">
            <a:spAutoFit/>
          </a:bodyPr>
          <a:lstStyle/>
          <a:p>
            <a:r>
              <a:rPr lang="en-US" sz="1200" b="0" i="0" dirty="0">
                <a:effectLst/>
                <a:latin typeface="+mn-lt"/>
              </a:rPr>
              <a:t>🐳 **5. Optimize Docker Builds**</a:t>
            </a:r>
            <a:br>
              <a:rPr lang="en-US" sz="1200" dirty="0"/>
            </a:br>
            <a:r>
              <a:rPr lang="en-US" sz="1200" b="0" i="0" dirty="0">
                <a:effectLst/>
                <a:latin typeface="+mn-lt"/>
              </a:rPr>
              <a:t>Docker builds can waste time rebuilding unchanged layers.</a:t>
            </a:r>
            <a:br>
              <a:rPr lang="en-US" sz="1200" dirty="0"/>
            </a:br>
            <a:r>
              <a:rPr lang="en-US" sz="1200" b="0" i="0" dirty="0">
                <a:effectLst/>
                <a:latin typeface="+mn-lt"/>
              </a:rPr>
              <a:t>✅ Use Docker layer caching.</a:t>
            </a:r>
            <a:br>
              <a:rPr lang="en-US" sz="1200" dirty="0"/>
            </a:br>
            <a:r>
              <a:rPr lang="en-US" sz="1200" b="0" i="0" dirty="0">
                <a:effectLst/>
                <a:latin typeface="+mn-lt"/>
              </a:rPr>
              <a:t>✅ Copy dependency files before application source code.</a:t>
            </a:r>
            <a:br>
              <a:rPr lang="en-US" sz="1200" dirty="0"/>
            </a:br>
            <a:r>
              <a:rPr lang="en-US" sz="1200" b="0" i="0" dirty="0">
                <a:effectLst/>
                <a:latin typeface="+mn-lt"/>
              </a:rPr>
              <a:t>✅ Use multi-stage builds where appropriate.</a:t>
            </a:r>
            <a:br>
              <a:rPr lang="en-US" sz="1200" dirty="0"/>
            </a:br>
            <a:r>
              <a:rPr lang="en-US" sz="1200" b="0" i="0" dirty="0">
                <a:effectLst/>
                <a:latin typeface="+mn-lt"/>
              </a:rPr>
              <a:t>Result: Faster image creation and more efficient builds.</a:t>
            </a:r>
            <a:br>
              <a:rPr lang="en-US" sz="1200" dirty="0"/>
            </a:br>
            <a:br>
              <a:rPr lang="en-US" sz="1200" dirty="0"/>
            </a:br>
            <a:r>
              <a:rPr lang="en-US" sz="1200" b="0" i="0" dirty="0">
                <a:effectLst/>
                <a:latin typeface="+mn-lt"/>
              </a:rPr>
              <a:t>🖥️ **6. Optimize Build Agents**</a:t>
            </a:r>
            <a:br>
              <a:rPr lang="en-US" sz="1200" dirty="0"/>
            </a:br>
            <a:r>
              <a:rPr lang="en-US" sz="1200" b="0" i="0" dirty="0">
                <a:effectLst/>
                <a:latin typeface="+mn-lt"/>
              </a:rPr>
              <a:t>Sometimes, the problem isn't the pipeline configuration—it's the infrastructure.</a:t>
            </a:r>
            <a:br>
              <a:rPr lang="en-US" sz="1200" dirty="0"/>
            </a:br>
            <a:r>
              <a:rPr lang="en-US" sz="1200" b="0" i="0" dirty="0">
                <a:effectLst/>
                <a:latin typeface="+mn-lt"/>
              </a:rPr>
              <a:t>✅ Monitor CPU, RAM, disk I/O, and network usage.</a:t>
            </a:r>
            <a:br>
              <a:rPr lang="en-US" sz="1200" dirty="0"/>
            </a:br>
            <a:r>
              <a:rPr lang="en-US" sz="1200" b="0" i="0" dirty="0">
                <a:effectLst/>
                <a:latin typeface="+mn-lt"/>
              </a:rPr>
              <a:t>✅ Upgrade underpowered agents when necessary.</a:t>
            </a:r>
            <a:br>
              <a:rPr lang="en-US" sz="1200" dirty="0"/>
            </a:br>
            <a:r>
              <a:rPr lang="en-US" sz="1200" b="0" i="0" dirty="0">
                <a:effectLst/>
                <a:latin typeface="+mn-lt"/>
              </a:rPr>
              <a:t>✅ Use autoscaling agents to handle concurrent workloads.</a:t>
            </a:r>
            <a:br>
              <a:rPr lang="en-US" sz="1200" dirty="0"/>
            </a:br>
            <a:r>
              <a:rPr lang="en-US" sz="1200" b="0" i="0" dirty="0">
                <a:effectLst/>
                <a:latin typeface="+mn-lt"/>
              </a:rPr>
              <a:t>Result: Better resource utilization and fewer build bottlenecks.</a:t>
            </a:r>
            <a:br>
              <a:rPr lang="en-US" sz="1200" dirty="0"/>
            </a:br>
            <a:br>
              <a:rPr lang="en-US" sz="1200" dirty="0"/>
            </a:br>
            <a:r>
              <a:rPr lang="en-US" sz="1200" b="0" i="0" dirty="0">
                <a:effectLst/>
                <a:latin typeface="+mn-lt"/>
              </a:rPr>
              <a:t>📊 **7. Measure the Improvement**</a:t>
            </a:r>
            <a:br>
              <a:rPr lang="en-US" sz="1200" dirty="0"/>
            </a:br>
            <a:r>
              <a:rPr lang="en-US" sz="1200" b="0" i="0" dirty="0">
                <a:effectLst/>
                <a:latin typeface="+mn-lt"/>
              </a:rPr>
              <a:t>Optimization doesn't end when the pipeline becomes faster.</a:t>
            </a:r>
            <a:br>
              <a:rPr lang="en-US" sz="1200" dirty="0"/>
            </a:br>
            <a:r>
              <a:rPr lang="en-US" sz="1200" b="0" i="0" dirty="0">
                <a:effectLst/>
                <a:latin typeface="+mn-lt"/>
              </a:rPr>
              <a:t>Track:</a:t>
            </a:r>
            <a:br>
              <a:rPr lang="en-US" sz="1200" dirty="0"/>
            </a:br>
            <a:r>
              <a:rPr lang="en-US" sz="1200" b="0" i="0" dirty="0">
                <a:effectLst/>
                <a:latin typeface="+mn-lt"/>
              </a:rPr>
              <a:t>• Total build duration</a:t>
            </a:r>
            <a:br>
              <a:rPr lang="en-US" sz="1200" dirty="0"/>
            </a:br>
            <a:r>
              <a:rPr lang="en-US" sz="1200" b="0" i="0" dirty="0">
                <a:effectLst/>
                <a:latin typeface="+mn-lt"/>
              </a:rPr>
              <a:t>• Cache-hit rate</a:t>
            </a:r>
            <a:br>
              <a:rPr lang="en-US" sz="1200" dirty="0"/>
            </a:br>
            <a:r>
              <a:rPr lang="en-US" sz="1200" b="0" i="0" dirty="0">
                <a:effectLst/>
                <a:latin typeface="+mn-lt"/>
              </a:rPr>
              <a:t>• Pipeline failure rate</a:t>
            </a:r>
            <a:br>
              <a:rPr lang="en-US" sz="1200" dirty="0"/>
            </a:br>
            <a:r>
              <a:rPr lang="en-US" sz="1200" b="0" i="0" dirty="0">
                <a:effectLst/>
                <a:latin typeface="+mn-lt"/>
              </a:rPr>
              <a:t>• Test coverage</a:t>
            </a:r>
            <a:br>
              <a:rPr lang="en-US" sz="1200" dirty="0"/>
            </a:br>
            <a:r>
              <a:rPr lang="en-US" sz="1200" b="0" i="0" dirty="0">
                <a:effectLst/>
                <a:latin typeface="+mn-lt"/>
              </a:rPr>
              <a:t>• Developer feedback</a:t>
            </a:r>
            <a:br>
              <a:rPr lang="en-US" sz="1200" dirty="0"/>
            </a:br>
            <a:br>
              <a:rPr lang="en-US" sz="1200" dirty="0"/>
            </a:br>
            <a:r>
              <a:rPr lang="en-US" sz="1200" b="0" i="0" dirty="0">
                <a:effectLst/>
                <a:latin typeface="+mn-lt"/>
              </a:rPr>
              <a:t>🎯 **The Goal:**</a:t>
            </a:r>
            <a:br>
              <a:rPr lang="en-US" sz="1200" dirty="0"/>
            </a:br>
            <a:r>
              <a:rPr lang="en-US" sz="1200" b="0" i="0" dirty="0">
                <a:effectLst/>
                <a:latin typeface="+mn-lt"/>
              </a:rPr>
              <a:t>Reduce build time from 40 minutes to approximately 15–20 minutes, depending on the bottlenecks and project complexity—without compromising code quality or reliability.</a:t>
            </a:r>
            <a:endParaRPr lang="en-US" dirty="0"/>
          </a:p>
        </p:txBody>
      </p:sp>
      <p:sp>
        <p:nvSpPr>
          <p:cNvPr id="13" name="TextBox 12">
            <a:extLst>
              <a:ext uri="{FF2B5EF4-FFF2-40B4-BE49-F238E27FC236}">
                <a16:creationId xmlns:a16="http://schemas.microsoft.com/office/drawing/2014/main" id="{9D1B55F0-F136-003D-F3EF-B62DA343BDD2}"/>
              </a:ext>
            </a:extLst>
          </p:cNvPr>
          <p:cNvSpPr txBox="1"/>
          <p:nvPr/>
        </p:nvSpPr>
        <p:spPr>
          <a:xfrm>
            <a:off x="2971110" y="0"/>
            <a:ext cx="8200098" cy="400110"/>
          </a:xfrm>
          <a:prstGeom prst="rect">
            <a:avLst/>
          </a:prstGeom>
          <a:noFill/>
        </p:spPr>
        <p:txBody>
          <a:bodyPr wrap="square">
            <a:spAutoFit/>
          </a:bodyPr>
          <a:lstStyle/>
          <a:p>
            <a:r>
              <a:rPr kumimoji="1" lang="en-US" sz="2000" dirty="0">
                <a:solidFill>
                  <a:srgbClr val="FF008C"/>
                </a:solidFill>
                <a:latin typeface="Rakuten Sans" panose="020B0503020203020204" pitchFamily="34" charset="0"/>
                <a:ea typeface="+mj-ea"/>
                <a:sym typeface="メイリオ"/>
              </a:rPr>
              <a:t>Your CI/CD Build Takes 40 </a:t>
            </a:r>
            <a:r>
              <a:rPr kumimoji="1" lang="en-US" sz="2000" dirty="0" err="1">
                <a:solidFill>
                  <a:srgbClr val="FF008C"/>
                </a:solidFill>
                <a:latin typeface="Rakuten Sans" panose="020B0503020203020204" pitchFamily="34" charset="0"/>
                <a:ea typeface="+mj-ea"/>
                <a:sym typeface="メイリオ"/>
              </a:rPr>
              <a:t>MinutesHow</a:t>
            </a:r>
            <a:r>
              <a:rPr kumimoji="1" lang="en-US" sz="2000" dirty="0">
                <a:solidFill>
                  <a:srgbClr val="FF008C"/>
                </a:solidFill>
                <a:latin typeface="Rakuten Sans" panose="020B0503020203020204" pitchFamily="34" charset="0"/>
                <a:ea typeface="+mj-ea"/>
                <a:sym typeface="メイリオ"/>
              </a:rPr>
              <a:t> Would You Speed It Up?**</a:t>
            </a:r>
          </a:p>
        </p:txBody>
      </p:sp>
    </p:spTree>
    <p:extLst>
      <p:ext uri="{BB962C8B-B14F-4D97-AF65-F5344CB8AC3E}">
        <p14:creationId xmlns:p14="http://schemas.microsoft.com/office/powerpoint/2010/main" val="5835320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099E5-C4A6-0681-4436-D2B90C388F43}"/>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74E6B82E-4A1F-E157-7547-4888065E4FAA}"/>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C779319F-1769-CAAD-3909-F68836A4485D}"/>
              </a:ext>
            </a:extLst>
          </p:cNvPr>
          <p:cNvSpPr txBox="1">
            <a:spLocks/>
          </p:cNvSpPr>
          <p:nvPr/>
        </p:nvSpPr>
        <p:spPr>
          <a:xfrm>
            <a:off x="3099816" y="212747"/>
            <a:ext cx="9022969" cy="116611"/>
          </a:xfrm>
          <a:prstGeom prst="rect">
            <a:avLst/>
          </a:prstGeom>
          <a:solidFill>
            <a:schemeClr val="bg1"/>
          </a:solidFill>
          <a:ln w="12700">
            <a:miter lim="400000"/>
          </a:ln>
          <a:extLst>
            <a:ext uri="{C572A759-6A51-4108-AA02-DFA0A04FC94B}">
              <ma14:wrappingTextBoxFlag xmlns="" xmlns:ma14="http://schemas.microsoft.com/office/mac/drawingml/2011/main"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400" b="0" dirty="0"/>
              <a:t>Azure RBAC vs ABAC — How Do They Work Together?</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pic>
        <p:nvPicPr>
          <p:cNvPr id="5" name="Picture 4">
            <a:extLst>
              <a:ext uri="{FF2B5EF4-FFF2-40B4-BE49-F238E27FC236}">
                <a16:creationId xmlns:a16="http://schemas.microsoft.com/office/drawing/2014/main" id="{9BD769F5-0064-9A1E-5AE1-8674454C72B9}"/>
              </a:ext>
            </a:extLst>
          </p:cNvPr>
          <p:cNvPicPr>
            <a:picLocks noChangeAspect="1"/>
          </p:cNvPicPr>
          <p:nvPr/>
        </p:nvPicPr>
        <p:blipFill>
          <a:blip r:embed="rId2"/>
          <a:stretch>
            <a:fillRect/>
          </a:stretch>
        </p:blipFill>
        <p:spPr>
          <a:xfrm>
            <a:off x="2349969" y="693157"/>
            <a:ext cx="5258530" cy="5238661"/>
          </a:xfrm>
          <a:prstGeom prst="rect">
            <a:avLst/>
          </a:prstGeom>
        </p:spPr>
      </p:pic>
    </p:spTree>
    <p:extLst>
      <p:ext uri="{BB962C8B-B14F-4D97-AF65-F5344CB8AC3E}">
        <p14:creationId xmlns:p14="http://schemas.microsoft.com/office/powerpoint/2010/main" val="80477360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6A954-F7BF-DF79-E902-EC9CB1911BB1}"/>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DE980DA-11AB-94DE-089A-F8476A5BA003}"/>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90518FD2-B53C-3819-6762-6D7B2195C676}"/>
              </a:ext>
            </a:extLst>
          </p:cNvPr>
          <p:cNvSpPr txBox="1">
            <a:spLocks/>
          </p:cNvSpPr>
          <p:nvPr/>
        </p:nvSpPr>
        <p:spPr>
          <a:xfrm>
            <a:off x="3099816" y="212747"/>
            <a:ext cx="9022969" cy="11661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400" b="0" dirty="0"/>
              <a:t>How Do You Handle Flaky Tests?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pic>
        <p:nvPicPr>
          <p:cNvPr id="6" name="Picture 5">
            <a:extLst>
              <a:ext uri="{FF2B5EF4-FFF2-40B4-BE49-F238E27FC236}">
                <a16:creationId xmlns:a16="http://schemas.microsoft.com/office/drawing/2014/main" id="{5B3D2ABC-0547-5791-0F1C-F36957676405}"/>
              </a:ext>
            </a:extLst>
          </p:cNvPr>
          <p:cNvPicPr>
            <a:picLocks noChangeAspect="1"/>
          </p:cNvPicPr>
          <p:nvPr/>
        </p:nvPicPr>
        <p:blipFill>
          <a:blip r:embed="rId2"/>
          <a:stretch>
            <a:fillRect/>
          </a:stretch>
        </p:blipFill>
        <p:spPr>
          <a:xfrm>
            <a:off x="6190125" y="561987"/>
            <a:ext cx="5550426" cy="5533478"/>
          </a:xfrm>
          <a:prstGeom prst="rect">
            <a:avLst/>
          </a:prstGeom>
        </p:spPr>
      </p:pic>
      <p:sp>
        <p:nvSpPr>
          <p:cNvPr id="9" name="TextBox 8">
            <a:extLst>
              <a:ext uri="{FF2B5EF4-FFF2-40B4-BE49-F238E27FC236}">
                <a16:creationId xmlns:a16="http://schemas.microsoft.com/office/drawing/2014/main" id="{C9AD724A-D8AD-4F8E-373D-4F929B4293A3}"/>
              </a:ext>
            </a:extLst>
          </p:cNvPr>
          <p:cNvSpPr txBox="1"/>
          <p:nvPr/>
        </p:nvSpPr>
        <p:spPr>
          <a:xfrm>
            <a:off x="355839" y="917694"/>
            <a:ext cx="5242704" cy="4247317"/>
          </a:xfrm>
          <a:prstGeom prst="rect">
            <a:avLst/>
          </a:prstGeom>
          <a:noFill/>
        </p:spPr>
        <p:txBody>
          <a:bodyPr wrap="square">
            <a:spAutoFit/>
          </a:bodyPr>
          <a:lstStyle/>
          <a:p>
            <a:r>
              <a:rPr lang="en-US" sz="1800" b="0" i="0" dirty="0">
                <a:effectLst/>
                <a:latin typeface="+mn-lt"/>
              </a:rPr>
              <a:t>How Do You Handle Flaky Tests?</a:t>
            </a:r>
            <a:br>
              <a:rPr lang="en-US" dirty="0"/>
            </a:br>
            <a:r>
              <a:rPr lang="en-US" sz="1800" b="0" i="0" dirty="0">
                <a:effectLst/>
                <a:latin typeface="+mn-lt"/>
              </a:rPr>
              <a:t>Ever seen tests pass in one build and fail in the next—with no code changes? </a:t>
            </a:r>
            <a:br>
              <a:rPr lang="en-US" dirty="0"/>
            </a:br>
            <a:r>
              <a:rPr lang="en-US" sz="1800" b="0" i="0" dirty="0">
                <a:effectLst/>
                <a:latin typeface="+mn-lt"/>
              </a:rPr>
              <a:t>🤔That’s a flaky test, and it can delay releases and reduce confidence in CI/CD pipelines.</a:t>
            </a:r>
            <a:br>
              <a:rPr lang="en-US" dirty="0"/>
            </a:br>
            <a:br>
              <a:rPr lang="en-US" dirty="0"/>
            </a:br>
            <a:r>
              <a:rPr lang="en-US" sz="1800" b="0" i="0" dirty="0">
                <a:effectLst/>
                <a:latin typeface="+mn-lt"/>
              </a:rPr>
              <a:t>✅ Identify the root cause</a:t>
            </a:r>
            <a:br>
              <a:rPr lang="en-US" dirty="0"/>
            </a:br>
            <a:r>
              <a:rPr lang="en-US" sz="1800" b="0" i="0" dirty="0">
                <a:effectLst/>
                <a:latin typeface="+mn-lt"/>
              </a:rPr>
              <a:t>✅ Analyze logs and test reports</a:t>
            </a:r>
            <a:br>
              <a:rPr lang="en-US" dirty="0"/>
            </a:br>
            <a:r>
              <a:rPr lang="en-US" sz="1800" b="0" i="0" dirty="0">
                <a:effectLst/>
                <a:latin typeface="+mn-lt"/>
              </a:rPr>
              <a:t>✅ Fix timing, environment, and test data issues</a:t>
            </a:r>
            <a:br>
              <a:rPr lang="en-US" dirty="0"/>
            </a:br>
            <a:r>
              <a:rPr lang="en-US" sz="1800" b="0" i="0" dirty="0">
                <a:effectLst/>
                <a:latin typeface="+mn-lt"/>
              </a:rPr>
              <a:t>✅ Validate reliability and monitor results💡</a:t>
            </a:r>
            <a:br>
              <a:rPr lang="en-US" dirty="0"/>
            </a:br>
            <a:br>
              <a:rPr lang="en-US" dirty="0"/>
            </a:br>
            <a:r>
              <a:rPr lang="en-US" sz="1800" b="0" i="0" dirty="0">
                <a:effectLst/>
                <a:latin typeface="+mn-lt"/>
              </a:rPr>
              <a:t>Remember: Retries are not a permanent </a:t>
            </a:r>
            <a:br>
              <a:rPr lang="en-US" dirty="0"/>
            </a:br>
            <a:r>
              <a:rPr lang="en-US" sz="1800" b="0" i="0" dirty="0">
                <a:effectLst/>
                <a:latin typeface="+mn-lt"/>
              </a:rPr>
              <a:t>solution. Fix the root cause!</a:t>
            </a:r>
            <a:br>
              <a:rPr lang="en-US" dirty="0"/>
            </a:br>
            <a:r>
              <a:rPr lang="en-US" sz="1800" b="0" i="0" dirty="0">
                <a:effectLst/>
                <a:latin typeface="+mn-lt"/>
              </a:rPr>
              <a:t>💬 What would you check first when a test fails randomly?</a:t>
            </a:r>
            <a:endParaRPr lang="en-US" dirty="0"/>
          </a:p>
        </p:txBody>
      </p:sp>
    </p:spTree>
    <p:extLst>
      <p:ext uri="{BB962C8B-B14F-4D97-AF65-F5344CB8AC3E}">
        <p14:creationId xmlns:p14="http://schemas.microsoft.com/office/powerpoint/2010/main" val="137237627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2F939-0B06-5B06-6095-34F1BB851F59}"/>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507CC15-6A5D-98F6-895D-407916F4A228}"/>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6882FB6A-7BE6-4340-2349-B278E67113F2}"/>
              </a:ext>
            </a:extLst>
          </p:cNvPr>
          <p:cNvSpPr txBox="1">
            <a:spLocks/>
          </p:cNvSpPr>
          <p:nvPr/>
        </p:nvSpPr>
        <p:spPr>
          <a:xfrm>
            <a:off x="3099816" y="212747"/>
            <a:ext cx="9022969" cy="11661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400" b="0" dirty="0"/>
              <a:t>Azure RBAC vs ABAC — How Do They Work Together?</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8" name="TextBox 7">
            <a:extLst>
              <a:ext uri="{FF2B5EF4-FFF2-40B4-BE49-F238E27FC236}">
                <a16:creationId xmlns:a16="http://schemas.microsoft.com/office/drawing/2014/main" id="{B6951991-8097-4A7A-D458-C7B06EDC3074}"/>
              </a:ext>
            </a:extLst>
          </p:cNvPr>
          <p:cNvSpPr txBox="1"/>
          <p:nvPr/>
        </p:nvSpPr>
        <p:spPr>
          <a:xfrm>
            <a:off x="387985" y="271052"/>
            <a:ext cx="11734800" cy="5324535"/>
          </a:xfrm>
          <a:prstGeom prst="rect">
            <a:avLst/>
          </a:prstGeom>
          <a:noFill/>
        </p:spPr>
        <p:txBody>
          <a:bodyPr wrap="square">
            <a:spAutoFit/>
          </a:bodyPr>
          <a:lstStyle/>
          <a:p>
            <a:br>
              <a:rPr lang="en-US" dirty="0"/>
            </a:br>
            <a:br>
              <a:rPr lang="en-US" dirty="0"/>
            </a:br>
            <a:r>
              <a:rPr lang="en-US" sz="1600" b="0" i="0" dirty="0">
                <a:effectLst/>
                <a:latin typeface="+mn-lt"/>
              </a:rPr>
              <a:t>While learning Azure Security, I came across two important concepts: RBAC and ABAC.</a:t>
            </a:r>
            <a:br>
              <a:rPr lang="en-US" sz="1600" dirty="0"/>
            </a:br>
            <a:r>
              <a:rPr lang="en-US" sz="1600" b="0" i="0" dirty="0">
                <a:effectLst/>
                <a:latin typeface="+mn-lt"/>
              </a:rPr>
              <a:t>Let’s understand them in simple language. </a:t>
            </a:r>
            <a:br>
              <a:rPr lang="en-US" sz="1600" dirty="0"/>
            </a:br>
            <a:r>
              <a:rPr lang="en-US" sz="1600" b="0" i="0" dirty="0">
                <a:effectLst/>
                <a:latin typeface="+mn-lt"/>
              </a:rPr>
              <a:t>👇🔹 1. What is RBAC?RBAC stands for Role-Based Access </a:t>
            </a:r>
            <a:r>
              <a:rPr lang="en-US" sz="1600" b="1" i="0" u="none" strike="noStrike" dirty="0" err="1">
                <a:solidFill>
                  <a:schemeClr val="tx1"/>
                </a:solidFill>
                <a:effectLst/>
                <a:latin typeface="+mn-lt"/>
                <a:hlinkClick r:id="rId2"/>
              </a:rPr>
              <a:t>Control.It</a:t>
            </a:r>
            <a:r>
              <a:rPr lang="en-US" sz="1600" b="0" i="0" dirty="0">
                <a:effectLst/>
                <a:latin typeface="+mn-lt"/>
              </a:rPr>
              <a:t> decides what a user can do based on the role assigned to them.</a:t>
            </a:r>
            <a:br>
              <a:rPr lang="en-US" sz="1600" dirty="0"/>
            </a:br>
            <a:r>
              <a:rPr lang="en-US" sz="1600" b="0" i="0" dirty="0">
                <a:effectLst/>
                <a:latin typeface="+mn-lt"/>
              </a:rPr>
              <a:t>💡 Example: A developer gets the Storage Blob Data Reader role to read files in Azure Storage.</a:t>
            </a:r>
            <a:br>
              <a:rPr lang="en-US" sz="1600" dirty="0"/>
            </a:br>
            <a:r>
              <a:rPr lang="en-US" sz="1600" b="0" i="0" dirty="0">
                <a:effectLst/>
                <a:latin typeface="+mn-lt"/>
              </a:rPr>
              <a:t>🔹 2. What is ABAC?ABAC stands for Attribute-Based Access </a:t>
            </a:r>
            <a:r>
              <a:rPr lang="en-US" sz="1600" b="1" i="0" u="none" strike="noStrike" dirty="0" err="1">
                <a:solidFill>
                  <a:schemeClr val="tx1"/>
                </a:solidFill>
                <a:effectLst/>
                <a:latin typeface="+mn-lt"/>
                <a:hlinkClick r:id="rId3"/>
              </a:rPr>
              <a:t>Control.It</a:t>
            </a:r>
            <a:r>
              <a:rPr lang="en-US" sz="1600" b="0" i="0" dirty="0">
                <a:effectLst/>
                <a:latin typeface="+mn-lt"/>
              </a:rPr>
              <a:t> adds conditions to supported role assignments to restrict access further.</a:t>
            </a:r>
            <a:br>
              <a:rPr lang="en-US" sz="1600" dirty="0"/>
            </a:br>
            <a:r>
              <a:rPr lang="en-US" sz="1600" b="0" i="0" dirty="0">
                <a:effectLst/>
                <a:latin typeface="+mn-lt"/>
              </a:rPr>
              <a:t>💡 </a:t>
            </a:r>
            <a:r>
              <a:rPr lang="en-US" sz="1600" b="0" i="0" dirty="0" err="1">
                <a:effectLst/>
                <a:latin typeface="+mn-lt"/>
              </a:rPr>
              <a:t>Example:The</a:t>
            </a:r>
            <a:r>
              <a:rPr lang="en-US" sz="1600" b="0" i="0" dirty="0">
                <a:effectLst/>
                <a:latin typeface="+mn-lt"/>
              </a:rPr>
              <a:t> developer can read files in the dev-data container but is restricted from accessing prod-data through that role assignment.</a:t>
            </a:r>
            <a:br>
              <a:rPr lang="en-US" sz="1600" dirty="0"/>
            </a:br>
            <a:br>
              <a:rPr lang="en-US" sz="1600" dirty="0"/>
            </a:br>
            <a:r>
              <a:rPr lang="en-US" sz="1600" b="0" i="0" dirty="0">
                <a:effectLst/>
                <a:latin typeface="+mn-lt"/>
              </a:rPr>
              <a:t>🔹 3. How Do RBAC and ABAC Work </a:t>
            </a:r>
            <a:r>
              <a:rPr lang="en-US" sz="1600" b="0" i="0" dirty="0" err="1">
                <a:effectLst/>
                <a:latin typeface="+mn-lt"/>
              </a:rPr>
              <a:t>Together?Think</a:t>
            </a:r>
            <a:r>
              <a:rPr lang="en-US" sz="1600" b="0" i="0" dirty="0">
                <a:effectLst/>
                <a:latin typeface="+mn-lt"/>
              </a:rPr>
              <a:t> of it this way:</a:t>
            </a:r>
            <a:br>
              <a:rPr lang="en-US" sz="1600" dirty="0"/>
            </a:br>
            <a:r>
              <a:rPr lang="en-US" sz="1600" b="0" i="0" dirty="0">
                <a:effectLst/>
                <a:latin typeface="+mn-lt"/>
              </a:rPr>
              <a:t>✅ RBAC = Permission — What actions can the user perform?</a:t>
            </a:r>
            <a:br>
              <a:rPr lang="en-US" sz="1600" dirty="0"/>
            </a:br>
            <a:r>
              <a:rPr lang="en-US" sz="1600" b="0" i="0" dirty="0">
                <a:effectLst/>
                <a:latin typeface="+mn-lt"/>
              </a:rPr>
              <a:t>✅ ABAC = Condition — Under what conditions can those permissions be used?</a:t>
            </a:r>
            <a:br>
              <a:rPr lang="en-US" sz="1600" dirty="0"/>
            </a:br>
            <a:r>
              <a:rPr lang="en-US" sz="1600" b="0" i="0" dirty="0">
                <a:effectLst/>
                <a:latin typeface="+mn-lt"/>
              </a:rPr>
              <a:t>Together, they help implement more precise access control.</a:t>
            </a:r>
            <a:br>
              <a:rPr lang="en-US" sz="1600" dirty="0"/>
            </a:br>
            <a:br>
              <a:rPr lang="en-US" sz="1600" dirty="0"/>
            </a:br>
            <a:r>
              <a:rPr lang="en-US" sz="1600" b="0" i="0" dirty="0">
                <a:effectLst/>
                <a:latin typeface="+mn-lt"/>
              </a:rPr>
              <a:t>🎯 Real-world Azure </a:t>
            </a:r>
            <a:r>
              <a:rPr lang="en-US" sz="1600" b="0" i="0" dirty="0" err="1">
                <a:effectLst/>
                <a:latin typeface="+mn-lt"/>
              </a:rPr>
              <a:t>scenario:Imagine</a:t>
            </a:r>
            <a:r>
              <a:rPr lang="en-US" sz="1600" b="0" i="0" dirty="0">
                <a:effectLst/>
                <a:latin typeface="+mn-lt"/>
              </a:rPr>
              <a:t> your Storage Account has Development and Production data. You want developers to read Development data without giving them access to Production data.</a:t>
            </a:r>
            <a:br>
              <a:rPr lang="en-US" sz="1600" dirty="0"/>
            </a:br>
            <a:r>
              <a:rPr lang="en-US" sz="1600" b="0" i="0" dirty="0">
                <a:effectLst/>
                <a:latin typeface="+mn-lt"/>
              </a:rPr>
              <a:t>You can assign the appropriate RBAC role and apply a supported ABAC condition to restrict access.🔐 This follows the Principle of Least Privilege — give users only the access they need.</a:t>
            </a:r>
            <a:br>
              <a:rPr lang="en-US" sz="1600" dirty="0"/>
            </a:br>
            <a:br>
              <a:rPr lang="en-US" sz="1600" dirty="0"/>
            </a:br>
            <a:r>
              <a:rPr lang="en-US" sz="1600" b="0" i="0" dirty="0">
                <a:effectLst/>
                <a:latin typeface="+mn-lt"/>
              </a:rPr>
              <a:t>📌 My key learning: RBAC and ABAC are not </a:t>
            </a:r>
            <a:r>
              <a:rPr lang="en-US" sz="1600" b="0" i="0" dirty="0" err="1">
                <a:effectLst/>
                <a:latin typeface="+mn-lt"/>
              </a:rPr>
              <a:t>competitors.They</a:t>
            </a:r>
            <a:r>
              <a:rPr lang="en-US" sz="1600" b="0" i="0" dirty="0">
                <a:effectLst/>
                <a:latin typeface="+mn-lt"/>
              </a:rPr>
              <a:t> can work together to improve access control and security in Azure.</a:t>
            </a:r>
            <a:endParaRPr lang="en-US" sz="1600" dirty="0"/>
          </a:p>
        </p:txBody>
      </p:sp>
    </p:spTree>
    <p:extLst>
      <p:ext uri="{BB962C8B-B14F-4D97-AF65-F5344CB8AC3E}">
        <p14:creationId xmlns:p14="http://schemas.microsoft.com/office/powerpoint/2010/main" val="221763773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6D897-53D0-C7B8-A54D-DE9EFC363212}"/>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FAF29470-1B52-66CF-A4BB-17A4A56F4898}"/>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5D346A9F-2EF5-3C0A-90DF-842CF2211B19}"/>
              </a:ext>
            </a:extLst>
          </p:cNvPr>
          <p:cNvSpPr txBox="1">
            <a:spLocks/>
          </p:cNvSpPr>
          <p:nvPr/>
        </p:nvSpPr>
        <p:spPr>
          <a:xfrm>
            <a:off x="3099816" y="212747"/>
            <a:ext cx="9022969" cy="116611"/>
          </a:xfrm>
          <a:prstGeom prst="rect">
            <a:avLst/>
          </a:prstGeom>
          <a:solidFill>
            <a:schemeClr val="bg1"/>
          </a:solidFill>
          <a:ln w="12700">
            <a:miter lim="400000"/>
          </a:ln>
          <a:extLst>
            <a:ext uri="{C572A759-6A51-4108-AA02-DFA0A04FC94B}">
              <ma14:wrappingTextBoxFlag xmlns="" xmlns:ma14="http://schemas.microsoft.com/office/mac/drawingml/2011/main"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400" dirty="0"/>
              <a:t>Understanding Application Tiers (1-Tier, 2-Tier, 3-Tier)</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21" name="TextBox 20">
            <a:extLst>
              <a:ext uri="{FF2B5EF4-FFF2-40B4-BE49-F238E27FC236}">
                <a16:creationId xmlns:a16="http://schemas.microsoft.com/office/drawing/2014/main" id="{8EC5E437-6C45-988A-EDCA-8EA512A17E7D}"/>
              </a:ext>
            </a:extLst>
          </p:cNvPr>
          <p:cNvSpPr txBox="1"/>
          <p:nvPr/>
        </p:nvSpPr>
        <p:spPr>
          <a:xfrm>
            <a:off x="270888" y="620036"/>
            <a:ext cx="6372460" cy="4524315"/>
          </a:xfrm>
          <a:prstGeom prst="rect">
            <a:avLst/>
          </a:prstGeom>
          <a:noFill/>
        </p:spPr>
        <p:txBody>
          <a:bodyPr wrap="square">
            <a:spAutoFit/>
          </a:bodyPr>
          <a:lstStyle/>
          <a:p>
            <a:pPr>
              <a:lnSpc>
                <a:spcPct val="100000"/>
              </a:lnSpc>
              <a:defRPr/>
            </a:pPr>
            <a:r>
              <a:rPr lang="en-US" sz="1200" dirty="0"/>
              <a:t>Understanding Application Tiers (1-Tier, 2-Tier, 3-Tier) </a:t>
            </a:r>
            <a:br>
              <a:rPr lang="en-US" sz="1200" dirty="0"/>
            </a:br>
            <a:r>
              <a:rPr lang="en-US" sz="1200" dirty="0"/>
              <a:t>Ever wondered how the apps we use every day are actually built? Today I'm sharing something I learned and turned into a simple diagram — the basics of Application Tiers.</a:t>
            </a:r>
            <a:br>
              <a:rPr lang="en-US" sz="1200" dirty="0"/>
            </a:br>
            <a:r>
              <a:rPr lang="en-US" sz="1200" dirty="0"/>
              <a:t>Application is basically made up of layers. Depending on how many layers it has, we call it 1-tier, 2-tier, or 3-tier.</a:t>
            </a:r>
            <a:br>
              <a:rPr lang="en-US" sz="1200" dirty="0"/>
            </a:br>
            <a:br>
              <a:rPr lang="en-US" sz="1200" dirty="0"/>
            </a:br>
            <a:r>
              <a:rPr lang="en-US" sz="1200" dirty="0"/>
              <a:t>1-Tier Application</a:t>
            </a:r>
            <a:br>
              <a:rPr lang="en-US" sz="1200" dirty="0"/>
            </a:br>
            <a:r>
              <a:rPr lang="en-US" sz="1200" dirty="0"/>
              <a:t>Everything :frontend, backend, and database — sits together in one place.</a:t>
            </a:r>
            <a:br>
              <a:rPr lang="en-US" sz="1200" dirty="0"/>
            </a:br>
            <a:r>
              <a:rPr lang="en-US" sz="1200" dirty="0"/>
              <a:t>📌 Example: Calculator, Notepad</a:t>
            </a:r>
            <a:br>
              <a:rPr lang="en-US" sz="1200" dirty="0"/>
            </a:br>
            <a:r>
              <a:rPr lang="en-US" sz="1200" dirty="0"/>
              <a:t>This is Simple, but not scalable.</a:t>
            </a:r>
            <a:br>
              <a:rPr lang="en-US" sz="1200" dirty="0"/>
            </a:br>
            <a:r>
              <a:rPr lang="en-US" sz="1200" dirty="0"/>
              <a:t>2-Tier Application</a:t>
            </a:r>
            <a:br>
              <a:rPr lang="en-US" sz="1200" dirty="0"/>
            </a:br>
            <a:r>
              <a:rPr lang="en-US" sz="1200" dirty="0" err="1"/>
              <a:t>Application</a:t>
            </a:r>
            <a:r>
              <a:rPr lang="en-US" sz="1200" dirty="0"/>
              <a:t> is split into two parts: Frontend + Backend on one side, and the Database on the other.</a:t>
            </a:r>
            <a:br>
              <a:rPr lang="en-US" sz="1200" dirty="0"/>
            </a:br>
            <a:r>
              <a:rPr lang="en-US" sz="1200" dirty="0"/>
              <a:t>Example: ATM Screen as the user side talking to the Bank Server/Database.</a:t>
            </a:r>
            <a:br>
              <a:rPr lang="en-US" sz="1200" dirty="0"/>
            </a:br>
            <a:r>
              <a:rPr lang="en-US" sz="1200" dirty="0"/>
              <a:t>3-Tier Application</a:t>
            </a:r>
            <a:br>
              <a:rPr lang="en-US" sz="1200" dirty="0"/>
            </a:br>
            <a:r>
              <a:rPr lang="en-US" sz="1200" dirty="0"/>
              <a:t>This is the most common setup used in modern apps. It has three separate layers:</a:t>
            </a:r>
            <a:br>
              <a:rPr lang="en-US" sz="1200" dirty="0"/>
            </a:br>
            <a:r>
              <a:rPr lang="en-US" sz="1200" dirty="0"/>
              <a:t>🔹 Frontend (what the user sees)</a:t>
            </a:r>
            <a:br>
              <a:rPr lang="en-US" sz="1200" dirty="0"/>
            </a:br>
            <a:r>
              <a:rPr lang="en-US" sz="1200" dirty="0"/>
              <a:t>🔹 Backend (the logic that processes things)</a:t>
            </a:r>
            <a:br>
              <a:rPr lang="en-US" sz="1200" dirty="0"/>
            </a:br>
            <a:r>
              <a:rPr lang="en-US" sz="1200" dirty="0"/>
              <a:t>🔹 Database (where data is stored)</a:t>
            </a:r>
            <a:br>
              <a:rPr lang="en-US" sz="1200" dirty="0"/>
            </a:br>
            <a:r>
              <a:rPr lang="en-US" sz="1200" dirty="0"/>
              <a:t>Ex ample: Chrome, WhatsApp, Instagram</a:t>
            </a:r>
            <a:br>
              <a:rPr lang="en-US" sz="1200" dirty="0"/>
            </a:br>
            <a:br>
              <a:rPr lang="en-US" sz="1200" dirty="0"/>
            </a:br>
            <a:r>
              <a:rPr lang="en-US" sz="1200" dirty="0"/>
              <a:t>Breaking it down by skills needed:</a:t>
            </a:r>
            <a:br>
              <a:rPr lang="en-US" sz="1200" dirty="0"/>
            </a:br>
            <a:r>
              <a:rPr lang="en-US" sz="1200" dirty="0"/>
              <a:t>➡️ Frontend Tier → HTML, CSS, Java</a:t>
            </a:r>
            <a:br>
              <a:rPr lang="en-US" sz="1200" dirty="0"/>
            </a:br>
            <a:r>
              <a:rPr lang="en-US" sz="1200" dirty="0"/>
              <a:t>➡️ Backend Tier → Python, Go, Rust, .NET</a:t>
            </a:r>
            <a:br>
              <a:rPr lang="en-US" sz="1200" dirty="0"/>
            </a:br>
            <a:r>
              <a:rPr lang="en-US" sz="1200" dirty="0"/>
              <a:t>➡️ Database Tier → SQL, MongoDB</a:t>
            </a:r>
            <a:endParaRPr kumimoji="1" lang="en-US" sz="1200" dirty="0">
              <a:solidFill>
                <a:srgbClr val="000000"/>
              </a:solidFill>
              <a:cs typeface="Calibri" panose="020F0502020204030204" pitchFamily="34" charset="0"/>
            </a:endParaRPr>
          </a:p>
        </p:txBody>
      </p:sp>
      <p:pic>
        <p:nvPicPr>
          <p:cNvPr id="5" name="Picture 4">
            <a:extLst>
              <a:ext uri="{FF2B5EF4-FFF2-40B4-BE49-F238E27FC236}">
                <a16:creationId xmlns:a16="http://schemas.microsoft.com/office/drawing/2014/main" id="{93000859-08B4-0A22-40BD-554FDF758FC6}"/>
              </a:ext>
            </a:extLst>
          </p:cNvPr>
          <p:cNvPicPr>
            <a:picLocks noChangeAspect="1"/>
          </p:cNvPicPr>
          <p:nvPr/>
        </p:nvPicPr>
        <p:blipFill>
          <a:blip r:embed="rId2"/>
          <a:stretch>
            <a:fillRect/>
          </a:stretch>
        </p:blipFill>
        <p:spPr>
          <a:xfrm>
            <a:off x="6694723" y="856572"/>
            <a:ext cx="5175014" cy="3922462"/>
          </a:xfrm>
          <a:prstGeom prst="rect">
            <a:avLst/>
          </a:prstGeom>
        </p:spPr>
      </p:pic>
    </p:spTree>
    <p:extLst>
      <p:ext uri="{BB962C8B-B14F-4D97-AF65-F5344CB8AC3E}">
        <p14:creationId xmlns:p14="http://schemas.microsoft.com/office/powerpoint/2010/main" val="317932542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097EF-A9EE-8754-0D80-1134567C3F51}"/>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DF004637-DA95-575D-904F-0A6F614E7C70}"/>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B4FEAF11-6648-F0DE-2E34-00BFD4E4F586}"/>
              </a:ext>
            </a:extLst>
          </p:cNvPr>
          <p:cNvSpPr txBox="1">
            <a:spLocks/>
          </p:cNvSpPr>
          <p:nvPr/>
        </p:nvSpPr>
        <p:spPr>
          <a:xfrm>
            <a:off x="3099816" y="212747"/>
            <a:ext cx="9022969" cy="11661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400" dirty="0"/>
              <a:t>Understanding Azure Virtual Machines (VMs) – Components &amp; Types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21" name="TextBox 20">
            <a:extLst>
              <a:ext uri="{FF2B5EF4-FFF2-40B4-BE49-F238E27FC236}">
                <a16:creationId xmlns:a16="http://schemas.microsoft.com/office/drawing/2014/main" id="{99415019-31CF-1E47-883A-B355C29C3BE3}"/>
              </a:ext>
            </a:extLst>
          </p:cNvPr>
          <p:cNvSpPr txBox="1"/>
          <p:nvPr/>
        </p:nvSpPr>
        <p:spPr>
          <a:xfrm>
            <a:off x="237687" y="749432"/>
            <a:ext cx="5987515" cy="5078313"/>
          </a:xfrm>
          <a:prstGeom prst="rect">
            <a:avLst/>
          </a:prstGeom>
          <a:noFill/>
        </p:spPr>
        <p:txBody>
          <a:bodyPr wrap="square">
            <a:spAutoFit/>
          </a:bodyPr>
          <a:lstStyle/>
          <a:p>
            <a:r>
              <a:rPr lang="en-US" sz="1200" dirty="0"/>
              <a:t>Understanding Azure Virtual Machines (VMs) – Components &amp; Types</a:t>
            </a:r>
            <a:br>
              <a:rPr lang="en-US" sz="1200" dirty="0"/>
            </a:br>
            <a:r>
              <a:rPr lang="en-US" sz="1200" dirty="0"/>
              <a:t>I created this visual to simplify Azure Virtual Machines (VMs).</a:t>
            </a:r>
            <a:br>
              <a:rPr lang="en-US" sz="1200" dirty="0"/>
            </a:br>
            <a:r>
              <a:rPr lang="en-US" sz="1200" dirty="0"/>
              <a:t>A Virtual Machine (VM) is a cloud-based virtual computer provided by Microsoft Azure. It allows you to run Windows or Linux servers without managing physical hardware.</a:t>
            </a:r>
            <a:br>
              <a:rPr lang="en-US" sz="1200" dirty="0"/>
            </a:br>
            <a:r>
              <a:rPr lang="en-US" sz="1200" dirty="0"/>
              <a:t>Key Components of an Azure VM</a:t>
            </a:r>
            <a:br>
              <a:rPr lang="en-US" sz="1200" dirty="0"/>
            </a:br>
            <a:r>
              <a:rPr lang="en-US" sz="1200" dirty="0"/>
              <a:t>🖥️ vCPU – Processing power</a:t>
            </a:r>
            <a:br>
              <a:rPr lang="en-US" sz="1200" dirty="0"/>
            </a:br>
            <a:r>
              <a:rPr lang="en-US" sz="1200" dirty="0"/>
              <a:t>💾 RAM – Memory for running applications</a:t>
            </a:r>
            <a:br>
              <a:rPr lang="en-US" sz="1200" dirty="0"/>
            </a:br>
            <a:r>
              <a:rPr lang="en-US" sz="1200" dirty="0"/>
              <a:t>💿 Storage (Disk) – HDD, SSD, Premium SSD, Ultra Disk</a:t>
            </a:r>
            <a:br>
              <a:rPr lang="en-US" sz="1200" dirty="0"/>
            </a:br>
            <a:r>
              <a:rPr lang="en-US" sz="1200" dirty="0"/>
              <a:t>🪟 Operating System – Windows or Linux</a:t>
            </a:r>
            <a:br>
              <a:rPr lang="en-US" sz="1200" dirty="0"/>
            </a:br>
            <a:r>
              <a:rPr lang="en-US" sz="1200" dirty="0"/>
              <a:t>🌐 Network Interface Card (NIC) – Connects the VM to the network</a:t>
            </a:r>
            <a:br>
              <a:rPr lang="en-US" sz="1200" dirty="0"/>
            </a:br>
            <a:r>
              <a:rPr lang="en-US" sz="1200" dirty="0"/>
              <a:t>🌍 Public &amp; Private IP – External and internal communication</a:t>
            </a:r>
            <a:br>
              <a:rPr lang="en-US" sz="1200" dirty="0"/>
            </a:br>
            <a:r>
              <a:rPr lang="en-US" sz="1200" dirty="0"/>
              <a:t>🔒 Virtual Network (</a:t>
            </a:r>
            <a:r>
              <a:rPr lang="en-US" sz="1200" dirty="0" err="1"/>
              <a:t>VNet</a:t>
            </a:r>
            <a:r>
              <a:rPr lang="en-US" sz="1200" dirty="0"/>
              <a:t>) &amp; Network Security Group (NSG) – Secure networking and traffic control</a:t>
            </a:r>
            <a:br>
              <a:rPr lang="en-US" sz="1200" dirty="0"/>
            </a:br>
            <a:r>
              <a:rPr lang="en-US" sz="1200" dirty="0"/>
              <a:t>☁️ Types of Azure VMs</a:t>
            </a:r>
            <a:br>
              <a:rPr lang="en-US" sz="1200" dirty="0"/>
            </a:br>
            <a:r>
              <a:rPr lang="en-US" sz="1200" dirty="0"/>
              <a:t>B-Series – Best for Development &amp; Testing</a:t>
            </a:r>
            <a:br>
              <a:rPr lang="en-US" sz="1200" dirty="0"/>
            </a:br>
            <a:r>
              <a:rPr lang="en-US" sz="1200" dirty="0"/>
              <a:t>D-Series – General-purpose workloads (Balanced CPU &amp; Memory)</a:t>
            </a:r>
            <a:br>
              <a:rPr lang="en-US" sz="1200" dirty="0"/>
            </a:br>
            <a:r>
              <a:rPr lang="en-US" sz="1200" dirty="0"/>
              <a:t>E-Series – Memory-intensive applications like SQL Server</a:t>
            </a:r>
            <a:br>
              <a:rPr lang="en-US" sz="1200" dirty="0"/>
            </a:br>
            <a:r>
              <a:rPr lang="en-US" sz="1200" dirty="0"/>
              <a:t>F-Series – Compute-intensive workloads with more CPU</a:t>
            </a:r>
            <a:br>
              <a:rPr lang="en-US" sz="1200" dirty="0"/>
            </a:br>
            <a:r>
              <a:rPr lang="en-US" sz="1200" dirty="0"/>
              <a:t>L-Series – Storage-intensive workloads like Big Data</a:t>
            </a:r>
            <a:br>
              <a:rPr lang="en-US" sz="1200" dirty="0"/>
            </a:br>
            <a:r>
              <a:rPr lang="en-US" sz="1200" dirty="0"/>
              <a:t>N-Series – GPU-enabled VMs for AI, ML &amp; Deep Learning</a:t>
            </a:r>
            <a:br>
              <a:rPr lang="en-US" sz="1200" dirty="0"/>
            </a:br>
            <a:br>
              <a:rPr lang="en-US" sz="1200" dirty="0"/>
            </a:br>
            <a:r>
              <a:rPr lang="en-US" sz="1200" dirty="0"/>
              <a:t>Bonus to Remember:</a:t>
            </a:r>
            <a:br>
              <a:rPr lang="en-US" sz="1200" dirty="0"/>
            </a:br>
            <a:br>
              <a:rPr lang="en-US" sz="1200" dirty="0"/>
            </a:br>
            <a:r>
              <a:rPr lang="en-US" sz="1200" dirty="0"/>
              <a:t>Types-B Basic </a:t>
            </a:r>
            <a:r>
              <a:rPr lang="en-US" sz="1200" dirty="0" err="1"/>
              <a:t>hai</a:t>
            </a:r>
            <a:r>
              <a:rPr lang="en-US" sz="1200" dirty="0"/>
              <a:t>... </a:t>
            </a:r>
            <a:br>
              <a:rPr lang="en-US" sz="1200" dirty="0"/>
            </a:br>
            <a:r>
              <a:rPr lang="en-US" sz="1200" dirty="0"/>
              <a:t>D Daily </a:t>
            </a:r>
            <a:r>
              <a:rPr lang="en-US" sz="1200" dirty="0" err="1"/>
              <a:t>hai</a:t>
            </a:r>
            <a:r>
              <a:rPr lang="en-US" sz="1200" dirty="0"/>
              <a:t>... E Extra Memory </a:t>
            </a:r>
            <a:r>
              <a:rPr lang="en-US" sz="1200" dirty="0" err="1"/>
              <a:t>hai</a:t>
            </a:r>
            <a:r>
              <a:rPr lang="en-US" sz="1200" dirty="0"/>
              <a:t>... F Fast CPU </a:t>
            </a:r>
            <a:r>
              <a:rPr lang="en-US" sz="1200" dirty="0" err="1"/>
              <a:t>hai</a:t>
            </a:r>
            <a:r>
              <a:rPr lang="en-US" sz="1200" dirty="0"/>
              <a:t>... L Large Storage </a:t>
            </a:r>
            <a:r>
              <a:rPr lang="en-US" sz="1200" dirty="0" err="1"/>
              <a:t>hai</a:t>
            </a:r>
            <a:r>
              <a:rPr lang="en-US" sz="1200" dirty="0"/>
              <a:t>... M Massive Memory </a:t>
            </a:r>
            <a:r>
              <a:rPr lang="en-US" sz="1200" dirty="0" err="1"/>
              <a:t>hai</a:t>
            </a:r>
            <a:r>
              <a:rPr lang="en-US" sz="1200" dirty="0"/>
              <a:t>... aur N? N </a:t>
            </a:r>
            <a:r>
              <a:rPr lang="en-US" sz="1200" dirty="0" err="1"/>
              <a:t>jhukega</a:t>
            </a:r>
            <a:r>
              <a:rPr lang="en-US" sz="1200" dirty="0"/>
              <a:t> </a:t>
            </a:r>
            <a:r>
              <a:rPr lang="en-US" sz="1200" dirty="0" err="1"/>
              <a:t>nahi</a:t>
            </a:r>
            <a:r>
              <a:rPr lang="en-US" sz="1200" dirty="0"/>
              <a:t>... NVIDIA GPU </a:t>
            </a:r>
            <a:r>
              <a:rPr lang="en-US" sz="1200" dirty="0" err="1"/>
              <a:t>hai</a:t>
            </a:r>
            <a:r>
              <a:rPr lang="en-US" sz="1200" dirty="0"/>
              <a:t>!"</a:t>
            </a:r>
            <a:endParaRPr kumimoji="1" lang="en-US" sz="1200" dirty="0">
              <a:solidFill>
                <a:srgbClr val="000000"/>
              </a:solidFill>
              <a:cs typeface="Calibri" panose="020F0502020204030204" pitchFamily="34" charset="0"/>
            </a:endParaRPr>
          </a:p>
        </p:txBody>
      </p:sp>
      <p:pic>
        <p:nvPicPr>
          <p:cNvPr id="4" name="Picture 3">
            <a:extLst>
              <a:ext uri="{FF2B5EF4-FFF2-40B4-BE49-F238E27FC236}">
                <a16:creationId xmlns:a16="http://schemas.microsoft.com/office/drawing/2014/main" id="{0ADFED57-A79C-6C9E-CEB3-FBDE78E5C1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5204" y="749433"/>
            <a:ext cx="5729107" cy="4089986"/>
          </a:xfrm>
          <a:prstGeom prst="rect">
            <a:avLst/>
          </a:prstGeom>
        </p:spPr>
      </p:pic>
    </p:spTree>
    <p:extLst>
      <p:ext uri="{BB962C8B-B14F-4D97-AF65-F5344CB8AC3E}">
        <p14:creationId xmlns:p14="http://schemas.microsoft.com/office/powerpoint/2010/main" val="359648365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4F091-8CFF-A3E9-6D1D-3908F2F7C1B8}"/>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BC4B1BA5-D16B-0CBA-0AFC-F36D9084EA30}"/>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9406F493-97F6-1282-E5FD-677EEAE836F4}"/>
              </a:ext>
            </a:extLst>
          </p:cNvPr>
          <p:cNvSpPr txBox="1">
            <a:spLocks/>
          </p:cNvSpPr>
          <p:nvPr/>
        </p:nvSpPr>
        <p:spPr>
          <a:xfrm>
            <a:off x="3099816" y="212747"/>
            <a:ext cx="9022969" cy="116611"/>
          </a:xfrm>
          <a:prstGeom prst="rect">
            <a:avLst/>
          </a:prstGeom>
          <a:solidFill>
            <a:schemeClr val="bg1"/>
          </a:solidFill>
          <a:ln w="12700">
            <a:miter lim="400000"/>
          </a:ln>
          <a:extLst>
            <a:ext uri="{C572A759-6A51-4108-AA02-DFA0A04FC94B}">
              <ma14:wrappingTextBoxFlag xmlns="" xmlns:ma14="http://schemas.microsoft.com/office/mac/drawingml/2011/main"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400" dirty="0"/>
              <a:t>Understanding Azure Virtual Machines (VMs) – Components &amp; Types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21" name="TextBox 20">
            <a:extLst>
              <a:ext uri="{FF2B5EF4-FFF2-40B4-BE49-F238E27FC236}">
                <a16:creationId xmlns:a16="http://schemas.microsoft.com/office/drawing/2014/main" id="{006253DE-557D-FA62-291A-5BA1A24F20FD}"/>
              </a:ext>
            </a:extLst>
          </p:cNvPr>
          <p:cNvSpPr txBox="1"/>
          <p:nvPr/>
        </p:nvSpPr>
        <p:spPr>
          <a:xfrm>
            <a:off x="237687" y="749432"/>
            <a:ext cx="5987515" cy="5078313"/>
          </a:xfrm>
          <a:prstGeom prst="rect">
            <a:avLst/>
          </a:prstGeom>
          <a:noFill/>
        </p:spPr>
        <p:txBody>
          <a:bodyPr wrap="square">
            <a:spAutoFit/>
          </a:bodyPr>
          <a:lstStyle/>
          <a:p>
            <a:r>
              <a:rPr lang="en-US" dirty="0"/>
              <a:t>Spent some time today breaking down the Azure Storage Account </a:t>
            </a:r>
            <a:br>
              <a:rPr lang="en-US" sz="1200" dirty="0"/>
            </a:br>
            <a:r>
              <a:rPr lang="en-US" dirty="0"/>
              <a:t>Think of it as one big warehouse with 4 different rooms, each built for a different kind of data.</a:t>
            </a:r>
            <a:br>
              <a:rPr lang="en-US" sz="1200" dirty="0"/>
            </a:br>
            <a:r>
              <a:rPr lang="en-US" dirty="0"/>
              <a:t>A: Blob Storage — for unstructured data (images, videos, PDFs, backups, logs).</a:t>
            </a:r>
            <a:br>
              <a:rPr lang="en-US" sz="1200" dirty="0"/>
            </a:br>
            <a:r>
              <a:rPr lang="en-US" dirty="0"/>
              <a:t>Types of Blog</a:t>
            </a:r>
            <a:br>
              <a:rPr lang="en-US" sz="1200" dirty="0"/>
            </a:br>
            <a:r>
              <a:rPr lang="en-US" dirty="0"/>
              <a:t>• Block Blob → normal files</a:t>
            </a:r>
            <a:br>
              <a:rPr lang="en-US" sz="1200" dirty="0"/>
            </a:br>
            <a:r>
              <a:rPr lang="en-US" dirty="0"/>
              <a:t>• Append Blob → logs that keep growing</a:t>
            </a:r>
            <a:br>
              <a:rPr lang="en-US" sz="1200" dirty="0"/>
            </a:br>
            <a:r>
              <a:rPr lang="en-US" dirty="0"/>
              <a:t>• Page Blob → used for VM disks (random read/write)</a:t>
            </a:r>
            <a:br>
              <a:rPr lang="en-US" sz="1200" dirty="0"/>
            </a:br>
            <a:br>
              <a:rPr lang="en-US" sz="1200" dirty="0"/>
            </a:br>
            <a:r>
              <a:rPr lang="en-US" dirty="0"/>
              <a:t>B: File Storage — works like a shared network folder, accessible over the internet from different systems. Uses SMB (Server Message Block) or NFS protocol.</a:t>
            </a:r>
            <a:br>
              <a:rPr lang="en-US" sz="1200" dirty="0"/>
            </a:br>
            <a:br>
              <a:rPr lang="en-US" sz="1200" dirty="0"/>
            </a:br>
            <a:r>
              <a:rPr lang="en-US" dirty="0"/>
              <a:t>C: Azure Table Storage — for tabular, small-scale NoSQL data.</a:t>
            </a:r>
            <a:br>
              <a:rPr lang="en-US" sz="1200" dirty="0"/>
            </a:br>
            <a:br>
              <a:rPr lang="en-US" sz="1200" dirty="0"/>
            </a:br>
            <a:r>
              <a:rPr lang="en-US" dirty="0"/>
              <a:t>D: Queue Storage — First In, First Out messaging, used to connect apps/services asynchronously.</a:t>
            </a:r>
            <a:endParaRPr kumimoji="1" lang="en-US" sz="1200" dirty="0">
              <a:solidFill>
                <a:srgbClr val="000000"/>
              </a:solidFill>
              <a:cs typeface="Calibri" panose="020F0502020204030204" pitchFamily="34" charset="0"/>
            </a:endParaRPr>
          </a:p>
        </p:txBody>
      </p:sp>
      <p:pic>
        <p:nvPicPr>
          <p:cNvPr id="6" name="Picture 5">
            <a:extLst>
              <a:ext uri="{FF2B5EF4-FFF2-40B4-BE49-F238E27FC236}">
                <a16:creationId xmlns:a16="http://schemas.microsoft.com/office/drawing/2014/main" id="{52B500E2-3601-C085-2311-C19874F3EE50}"/>
              </a:ext>
            </a:extLst>
          </p:cNvPr>
          <p:cNvPicPr>
            <a:picLocks noChangeAspect="1"/>
          </p:cNvPicPr>
          <p:nvPr/>
        </p:nvPicPr>
        <p:blipFill>
          <a:blip r:embed="rId2"/>
          <a:stretch>
            <a:fillRect/>
          </a:stretch>
        </p:blipFill>
        <p:spPr>
          <a:xfrm>
            <a:off x="6520035" y="1183209"/>
            <a:ext cx="5139444" cy="4210757"/>
          </a:xfrm>
          <a:prstGeom prst="rect">
            <a:avLst/>
          </a:prstGeom>
        </p:spPr>
      </p:pic>
    </p:spTree>
    <p:extLst>
      <p:ext uri="{BB962C8B-B14F-4D97-AF65-F5344CB8AC3E}">
        <p14:creationId xmlns:p14="http://schemas.microsoft.com/office/powerpoint/2010/main" val="206390148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575B3-7819-2861-5E0D-5626DC98DA1B}"/>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7061790-898F-1613-54B9-19427F8D9886}"/>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7F68B2DC-3C8A-E466-A818-75FFC3AE62C7}"/>
              </a:ext>
            </a:extLst>
          </p:cNvPr>
          <p:cNvSpPr txBox="1">
            <a:spLocks/>
          </p:cNvSpPr>
          <p:nvPr/>
        </p:nvSpPr>
        <p:spPr>
          <a:xfrm>
            <a:off x="2047394" y="186868"/>
            <a:ext cx="9022969" cy="11661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400" dirty="0"/>
              <a:t>Cloud Computing: On-Premises vs IaaS vs PaaS vs SaaS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21" name="TextBox 20">
            <a:extLst>
              <a:ext uri="{FF2B5EF4-FFF2-40B4-BE49-F238E27FC236}">
                <a16:creationId xmlns:a16="http://schemas.microsoft.com/office/drawing/2014/main" id="{92E0F5ED-13CA-CB02-C957-0046A8D300BC}"/>
              </a:ext>
            </a:extLst>
          </p:cNvPr>
          <p:cNvSpPr txBox="1"/>
          <p:nvPr/>
        </p:nvSpPr>
        <p:spPr>
          <a:xfrm>
            <a:off x="237687" y="749432"/>
            <a:ext cx="5987515" cy="3600986"/>
          </a:xfrm>
          <a:prstGeom prst="rect">
            <a:avLst/>
          </a:prstGeom>
          <a:noFill/>
        </p:spPr>
        <p:txBody>
          <a:bodyPr wrap="square">
            <a:spAutoFit/>
          </a:bodyPr>
          <a:lstStyle/>
          <a:p>
            <a:r>
              <a:rPr lang="en-US" dirty="0"/>
              <a:t>Cloud Computing: On-Premises vs IaaS vs PaaS vs SaaS</a:t>
            </a:r>
            <a:br>
              <a:rPr lang="en-US" sz="1200" dirty="0"/>
            </a:br>
            <a:br>
              <a:rPr lang="en-US" sz="1200" dirty="0"/>
            </a:br>
            <a:r>
              <a:rPr lang="en-US" dirty="0"/>
              <a:t>On-Premises-: Owning and running your own house.</a:t>
            </a:r>
            <a:br>
              <a:rPr lang="en-US" sz="1200" dirty="0"/>
            </a:br>
            <a:r>
              <a:rPr lang="en-US" dirty="0"/>
              <a:t>Microsoft Azure Services :</a:t>
            </a:r>
            <a:br>
              <a:rPr lang="en-US" sz="1200" dirty="0"/>
            </a:br>
            <a:r>
              <a:rPr lang="en-US" dirty="0"/>
              <a:t>IaaS: Renting an empty apartment—you furnish and maintain the inside. </a:t>
            </a:r>
            <a:br>
              <a:rPr lang="en-US" sz="1200" dirty="0"/>
            </a:br>
            <a:r>
              <a:rPr lang="en-US" dirty="0"/>
              <a:t>PaaS: Renting a fully furnished apartment—bring your belongings only</a:t>
            </a:r>
            <a:br>
              <a:rPr lang="en-US" sz="1200" dirty="0"/>
            </a:br>
            <a:r>
              <a:rPr lang="en-US" dirty="0"/>
              <a:t>SaaS: Staying in a hotel— Simply check in and use the room like a hotel</a:t>
            </a:r>
            <a:br>
              <a:rPr lang="en-US" sz="1200" dirty="0"/>
            </a:br>
            <a:r>
              <a:rPr lang="en-US" dirty="0"/>
              <a:t>Examples: IaaS-Azure Virtual Machines (VMs)</a:t>
            </a:r>
            <a:br>
              <a:rPr lang="en-US" sz="1200" dirty="0"/>
            </a:br>
            <a:r>
              <a:rPr lang="en-US" dirty="0"/>
              <a:t>PaaS-App Service, SQL Database.</a:t>
            </a:r>
            <a:br>
              <a:rPr lang="en-US" sz="1200" dirty="0"/>
            </a:br>
            <a:r>
              <a:rPr lang="en-US" dirty="0"/>
              <a:t>SaaS-Microsoft Teams, OneDrive</a:t>
            </a:r>
            <a:endParaRPr kumimoji="1" lang="en-US" sz="1200" dirty="0">
              <a:solidFill>
                <a:srgbClr val="000000"/>
              </a:solidFill>
              <a:cs typeface="Calibri" panose="020F0502020204030204" pitchFamily="34" charset="0"/>
            </a:endParaRPr>
          </a:p>
        </p:txBody>
      </p:sp>
      <p:pic>
        <p:nvPicPr>
          <p:cNvPr id="4" name="Picture 3">
            <a:extLst>
              <a:ext uri="{FF2B5EF4-FFF2-40B4-BE49-F238E27FC236}">
                <a16:creationId xmlns:a16="http://schemas.microsoft.com/office/drawing/2014/main" id="{1938CB36-66D3-F5F1-2A94-DA49C2327B99}"/>
              </a:ext>
            </a:extLst>
          </p:cNvPr>
          <p:cNvPicPr>
            <a:picLocks noChangeAspect="1"/>
          </p:cNvPicPr>
          <p:nvPr/>
        </p:nvPicPr>
        <p:blipFill>
          <a:blip r:embed="rId2"/>
          <a:stretch>
            <a:fillRect/>
          </a:stretch>
        </p:blipFill>
        <p:spPr>
          <a:xfrm>
            <a:off x="7097526" y="607590"/>
            <a:ext cx="4653393" cy="4464742"/>
          </a:xfrm>
          <a:prstGeom prst="rect">
            <a:avLst/>
          </a:prstGeom>
        </p:spPr>
      </p:pic>
    </p:spTree>
    <p:extLst>
      <p:ext uri="{BB962C8B-B14F-4D97-AF65-F5344CB8AC3E}">
        <p14:creationId xmlns:p14="http://schemas.microsoft.com/office/powerpoint/2010/main" val="411891679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A6F42-592D-9D7E-8D1A-57046EDC4131}"/>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2E6F912-0D29-38A9-08C0-4D83C1EBE1F0}"/>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3BFF422D-6667-EDCF-5DD0-586B83AB5027}"/>
              </a:ext>
            </a:extLst>
          </p:cNvPr>
          <p:cNvSpPr txBox="1">
            <a:spLocks/>
          </p:cNvSpPr>
          <p:nvPr/>
        </p:nvSpPr>
        <p:spPr>
          <a:xfrm>
            <a:off x="2047394" y="186868"/>
            <a:ext cx="9022969" cy="116611"/>
          </a:xfrm>
          <a:prstGeom prst="rect">
            <a:avLst/>
          </a:prstGeom>
          <a:solidFill>
            <a:schemeClr val="bg1"/>
          </a:solidFill>
          <a:ln w="12700">
            <a:miter lim="400000"/>
          </a:ln>
          <a:extLst>
            <a:ext uri="{C572A759-6A51-4108-AA02-DFA0A04FC94B}">
              <ma14:wrappingTextBoxFlag xmlns="" xmlns:ma14="http://schemas.microsoft.com/office/mac/drawingml/2011/main"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b="0" dirty="0"/>
              <a:t>Why SSH Key Authentication is More Secure than Passwords?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21" name="TextBox 20">
            <a:extLst>
              <a:ext uri="{FF2B5EF4-FFF2-40B4-BE49-F238E27FC236}">
                <a16:creationId xmlns:a16="http://schemas.microsoft.com/office/drawing/2014/main" id="{CB4AA12F-88BC-673D-7359-EFBED1D48BB6}"/>
              </a:ext>
            </a:extLst>
          </p:cNvPr>
          <p:cNvSpPr txBox="1"/>
          <p:nvPr/>
        </p:nvSpPr>
        <p:spPr>
          <a:xfrm>
            <a:off x="288898" y="487025"/>
            <a:ext cx="12003743" cy="6370975"/>
          </a:xfrm>
          <a:prstGeom prst="rect">
            <a:avLst/>
          </a:prstGeom>
          <a:noFill/>
        </p:spPr>
        <p:txBody>
          <a:bodyPr wrap="square">
            <a:spAutoFit/>
          </a:bodyPr>
          <a:lstStyle/>
          <a:p>
            <a:r>
              <a:rPr lang="en-US" sz="1200" dirty="0"/>
              <a:t>SSH (Secure Shell) is a protocol that allows us to securely connect to remote Virtual Machines over the internet.</a:t>
            </a:r>
            <a:br>
              <a:rPr lang="en-US" sz="1200" dirty="0"/>
            </a:br>
            <a:br>
              <a:rPr lang="en-US" sz="1200" dirty="0"/>
            </a:br>
            <a:r>
              <a:rPr lang="en-US" sz="1200" dirty="0"/>
              <a:t>🔹 Why not use passwords?</a:t>
            </a:r>
            <a:br>
              <a:rPr lang="en-US" sz="1200" dirty="0"/>
            </a:br>
            <a:r>
              <a:rPr lang="en-US" sz="1200" dirty="0"/>
              <a:t>Passwords have several drawbacks:</a:t>
            </a:r>
            <a:br>
              <a:rPr lang="en-US" sz="1200" dirty="0"/>
            </a:br>
            <a:br>
              <a:rPr lang="en-US" sz="1200" dirty="0"/>
            </a:br>
            <a:r>
              <a:rPr lang="en-US" sz="1200" dirty="0"/>
              <a:t>* They can be guessed or brute-forced.</a:t>
            </a:r>
            <a:br>
              <a:rPr lang="en-US" sz="1200" dirty="0"/>
            </a:br>
            <a:r>
              <a:rPr lang="en-US" sz="1200" dirty="0"/>
              <a:t>* They may get leaked or reused.</a:t>
            </a:r>
            <a:br>
              <a:rPr lang="en-US" sz="1200" dirty="0"/>
            </a:br>
            <a:r>
              <a:rPr lang="en-US" sz="1200" dirty="0"/>
              <a:t>* They are less suitable for automation.</a:t>
            </a:r>
            <a:br>
              <a:rPr lang="en-US" sz="1200" dirty="0"/>
            </a:br>
            <a:br>
              <a:rPr lang="en-US" sz="1200" dirty="0"/>
            </a:br>
            <a:r>
              <a:rPr lang="en-US" sz="1200" dirty="0"/>
              <a:t>The question is how SSH Keys improve security?</a:t>
            </a:r>
            <a:br>
              <a:rPr lang="en-US" sz="1200" dirty="0"/>
            </a:br>
            <a:r>
              <a:rPr lang="en-US" sz="1200" dirty="0"/>
              <a:t>SSH uses a key pair:</a:t>
            </a:r>
            <a:br>
              <a:rPr lang="en-US" sz="1200" dirty="0"/>
            </a:br>
            <a:br>
              <a:rPr lang="en-US" sz="1200" dirty="0"/>
            </a:br>
            <a:r>
              <a:rPr lang="en-US" sz="1200" dirty="0"/>
              <a:t>1 Public Key → Stored on the server (VM) and can be shared.</a:t>
            </a:r>
            <a:br>
              <a:rPr lang="en-US" sz="1200" dirty="0"/>
            </a:br>
            <a:r>
              <a:rPr lang="en-US" sz="1200" dirty="0"/>
              <a:t>2 Private Key → Stored securely on your laptop and should never be shared.</a:t>
            </a:r>
            <a:br>
              <a:rPr lang="en-US" sz="1200" dirty="0"/>
            </a:br>
            <a:br>
              <a:rPr lang="en-US" sz="1200" dirty="0"/>
            </a:br>
            <a:r>
              <a:rPr lang="en-US" sz="1200" dirty="0"/>
              <a:t>During authentication:</a:t>
            </a:r>
            <a:br>
              <a:rPr lang="en-US" sz="1200" dirty="0"/>
            </a:br>
            <a:r>
              <a:rPr lang="en-US" sz="1200" dirty="0"/>
              <a:t>-The private key never leaves your machine.</a:t>
            </a:r>
            <a:br>
              <a:rPr lang="en-US" sz="1200" dirty="0"/>
            </a:br>
            <a:r>
              <a:rPr lang="en-US" sz="1200" dirty="0"/>
              <a:t>-No password is transmitted over the network.</a:t>
            </a:r>
            <a:br>
              <a:rPr lang="en-US" sz="1200" dirty="0"/>
            </a:br>
            <a:r>
              <a:rPr lang="en-US" sz="1200" dirty="0"/>
              <a:t>-Authentication is more secure and ideal for automation.</a:t>
            </a:r>
            <a:br>
              <a:rPr lang="en-US" sz="1200" dirty="0"/>
            </a:br>
            <a:br>
              <a:rPr lang="en-US" sz="1200" dirty="0"/>
            </a:br>
            <a:r>
              <a:rPr lang="en-US" sz="1200" dirty="0"/>
              <a:t>Common Azure SSH Key Types</a:t>
            </a:r>
            <a:br>
              <a:rPr lang="en-US" sz="1200" dirty="0"/>
            </a:br>
            <a:r>
              <a:rPr lang="en-US" sz="1200" dirty="0"/>
              <a:t>A-RSA</a:t>
            </a:r>
            <a:br>
              <a:rPr lang="en-US" sz="1200" dirty="0"/>
            </a:br>
            <a:br>
              <a:rPr lang="en-US" sz="1200" dirty="0"/>
            </a:br>
            <a:r>
              <a:rPr lang="en-US" sz="1200" dirty="0"/>
              <a:t>* Older and widely supported</a:t>
            </a:r>
            <a:br>
              <a:rPr lang="en-US" sz="1200" dirty="0"/>
            </a:br>
            <a:r>
              <a:rPr lang="en-US" sz="1200" dirty="0"/>
              <a:t>* Larger key sizes (2048/3072 bits)</a:t>
            </a:r>
            <a:br>
              <a:rPr lang="en-US" sz="1200" dirty="0"/>
            </a:br>
            <a:r>
              <a:rPr lang="en-US" sz="1200" dirty="0"/>
              <a:t>* Compatible with legacy systems</a:t>
            </a:r>
            <a:br>
              <a:rPr lang="en-US" sz="1200" dirty="0"/>
            </a:br>
            <a:br>
              <a:rPr lang="en-US" sz="1200" dirty="0"/>
            </a:br>
            <a:r>
              <a:rPr lang="en-US" sz="1200" dirty="0"/>
              <a:t>B- Ed25519</a:t>
            </a:r>
            <a:br>
              <a:rPr lang="en-US" sz="1200" dirty="0"/>
            </a:br>
            <a:br>
              <a:rPr lang="en-US" sz="1200" dirty="0"/>
            </a:br>
            <a:r>
              <a:rPr lang="en-US" sz="1200" dirty="0"/>
              <a:t>* Modern and faster</a:t>
            </a:r>
            <a:br>
              <a:rPr lang="en-US" sz="1200" dirty="0"/>
            </a:br>
            <a:r>
              <a:rPr lang="en-US" sz="1200" dirty="0"/>
              <a:t>* 256-bit key with strong security</a:t>
            </a:r>
            <a:br>
              <a:rPr lang="en-US" sz="1200" dirty="0"/>
            </a:br>
            <a:r>
              <a:rPr lang="en-US" sz="1200" dirty="0"/>
              <a:t>* Recommended for most new environments</a:t>
            </a:r>
            <a:br>
              <a:rPr lang="en-US" sz="1200" dirty="0"/>
            </a:br>
            <a:br>
              <a:rPr lang="en-US" sz="1200" dirty="0"/>
            </a:br>
            <a:endParaRPr kumimoji="1" lang="en-US" sz="1200" dirty="0">
              <a:solidFill>
                <a:srgbClr val="000000"/>
              </a:solidFill>
              <a:cs typeface="Calibri" panose="020F0502020204030204" pitchFamily="34" charset="0"/>
            </a:endParaRPr>
          </a:p>
        </p:txBody>
      </p:sp>
      <p:pic>
        <p:nvPicPr>
          <p:cNvPr id="5" name="Picture 4">
            <a:extLst>
              <a:ext uri="{FF2B5EF4-FFF2-40B4-BE49-F238E27FC236}">
                <a16:creationId xmlns:a16="http://schemas.microsoft.com/office/drawing/2014/main" id="{A93DCCE3-0F1A-ED83-EFE8-0EF0A997AC7D}"/>
              </a:ext>
            </a:extLst>
          </p:cNvPr>
          <p:cNvPicPr>
            <a:picLocks noChangeAspect="1"/>
          </p:cNvPicPr>
          <p:nvPr/>
        </p:nvPicPr>
        <p:blipFill>
          <a:blip r:embed="rId2"/>
          <a:stretch>
            <a:fillRect/>
          </a:stretch>
        </p:blipFill>
        <p:spPr>
          <a:xfrm>
            <a:off x="6290769" y="877910"/>
            <a:ext cx="3968954" cy="4946904"/>
          </a:xfrm>
          <a:prstGeom prst="rect">
            <a:avLst/>
          </a:prstGeom>
        </p:spPr>
      </p:pic>
    </p:spTree>
    <p:extLst>
      <p:ext uri="{BB962C8B-B14F-4D97-AF65-F5344CB8AC3E}">
        <p14:creationId xmlns:p14="http://schemas.microsoft.com/office/powerpoint/2010/main" val="105280155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C317B-10DD-2A45-8457-59D653444DE5}"/>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D6B62CF9-25BB-CF88-6EA3-64AED198572E}"/>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C0AC9C01-6564-96BE-4A77-8D2F6DB618E0}"/>
              </a:ext>
            </a:extLst>
          </p:cNvPr>
          <p:cNvSpPr txBox="1">
            <a:spLocks/>
          </p:cNvSpPr>
          <p:nvPr/>
        </p:nvSpPr>
        <p:spPr>
          <a:xfrm>
            <a:off x="2047394" y="186868"/>
            <a:ext cx="10391897" cy="10766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800" dirty="0"/>
              <a:t>Terraform errors are not failures—They're Learning Opportunities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21" name="TextBox 20">
            <a:extLst>
              <a:ext uri="{FF2B5EF4-FFF2-40B4-BE49-F238E27FC236}">
                <a16:creationId xmlns:a16="http://schemas.microsoft.com/office/drawing/2014/main" id="{812BD49E-0D90-9FD3-1B13-60913755039E}"/>
              </a:ext>
            </a:extLst>
          </p:cNvPr>
          <p:cNvSpPr txBox="1"/>
          <p:nvPr/>
        </p:nvSpPr>
        <p:spPr>
          <a:xfrm>
            <a:off x="288899" y="487025"/>
            <a:ext cx="11149728" cy="6093976"/>
          </a:xfrm>
          <a:prstGeom prst="rect">
            <a:avLst/>
          </a:prstGeom>
          <a:noFill/>
        </p:spPr>
        <p:txBody>
          <a:bodyPr wrap="square">
            <a:spAutoFit/>
          </a:bodyPr>
          <a:lstStyle/>
          <a:p>
            <a:br>
              <a:rPr lang="en-US" sz="1000" dirty="0"/>
            </a:br>
            <a:r>
              <a:rPr lang="en-US" sz="1000" dirty="0"/>
              <a:t>When I encountered error, every error looked scary.</a:t>
            </a:r>
            <a:br>
              <a:rPr lang="en-US" sz="1000" dirty="0"/>
            </a:br>
            <a:r>
              <a:rPr lang="en-US" sz="1000" dirty="0"/>
              <a:t>Then I </a:t>
            </a:r>
            <a:r>
              <a:rPr lang="en-US" sz="1000" dirty="0" err="1"/>
              <a:t>realised</a:t>
            </a:r>
            <a:r>
              <a:rPr lang="en-US" sz="1000" dirty="0"/>
              <a:t> that Terraform errors are actually helpful. Most of them clearly tell you what went wrong.</a:t>
            </a:r>
            <a:br>
              <a:rPr lang="en-US" sz="1000" dirty="0"/>
            </a:br>
            <a:r>
              <a:rPr lang="en-US" sz="1000" dirty="0"/>
              <a:t>Here are the most common Terraform errors every beginner should know:</a:t>
            </a:r>
            <a:br>
              <a:rPr lang="en-US" sz="1000" dirty="0"/>
            </a:br>
            <a:r>
              <a:rPr lang="en-US" sz="1000" dirty="0"/>
              <a:t>1. Syntax Error</a:t>
            </a:r>
            <a:br>
              <a:rPr lang="en-US" sz="1000" dirty="0"/>
            </a:br>
            <a:r>
              <a:rPr lang="en-US" sz="1000" dirty="0"/>
              <a:t>Your code has a typo or incorrect syntax.</a:t>
            </a:r>
            <a:br>
              <a:rPr lang="en-US" sz="1000" dirty="0"/>
            </a:br>
            <a:r>
              <a:rPr lang="en-US" sz="1000" dirty="0"/>
              <a:t>Example: Forgot = or a closing }.</a:t>
            </a:r>
            <a:br>
              <a:rPr lang="en-US" sz="1000" dirty="0"/>
            </a:br>
            <a:r>
              <a:rPr lang="en-US" sz="1000" dirty="0"/>
              <a:t>Fix: Check your code and run terraform </a:t>
            </a:r>
            <a:r>
              <a:rPr lang="en-US" sz="1000" dirty="0" err="1"/>
              <a:t>fmt</a:t>
            </a:r>
            <a:r>
              <a:rPr lang="en-US" sz="1000" dirty="0"/>
              <a:t> or terraform validate.</a:t>
            </a:r>
            <a:br>
              <a:rPr lang="en-US" sz="1000" dirty="0"/>
            </a:br>
            <a:r>
              <a:rPr lang="en-US" sz="1000" dirty="0"/>
              <a:t>2. Missing Required Arguments</a:t>
            </a:r>
            <a:br>
              <a:rPr lang="en-US" sz="1000" dirty="0"/>
            </a:br>
            <a:r>
              <a:rPr lang="en-US" sz="1000" dirty="0"/>
              <a:t>You forgot to provide a mandatory value.</a:t>
            </a:r>
            <a:br>
              <a:rPr lang="en-US" sz="1000" dirty="0"/>
            </a:br>
            <a:r>
              <a:rPr lang="en-US" sz="1000" dirty="0"/>
              <a:t>Example: Creating an Azure Resource Group without specifying the location.</a:t>
            </a:r>
            <a:br>
              <a:rPr lang="en-US" sz="1000" dirty="0"/>
            </a:br>
            <a:r>
              <a:rPr lang="en-US" sz="1000" dirty="0"/>
              <a:t>Fix: Add the missing required field.</a:t>
            </a:r>
            <a:br>
              <a:rPr lang="en-US" sz="1000" dirty="0"/>
            </a:br>
            <a:r>
              <a:rPr lang="en-US" sz="1000" dirty="0"/>
              <a:t>3. Provider Initialization Issue</a:t>
            </a:r>
            <a:br>
              <a:rPr lang="en-US" sz="1000" dirty="0"/>
            </a:br>
            <a:r>
              <a:rPr lang="en-US" sz="1000" dirty="0"/>
              <a:t>Terraform isn't ready because the provider hasn't been initialized.</a:t>
            </a:r>
            <a:br>
              <a:rPr lang="en-US" sz="1000" dirty="0"/>
            </a:br>
            <a:r>
              <a:rPr lang="en-US" sz="1000" dirty="0"/>
              <a:t>Example: Running terraform plan before terraform </a:t>
            </a:r>
            <a:r>
              <a:rPr lang="en-US" sz="1000" dirty="0" err="1"/>
              <a:t>init.</a:t>
            </a:r>
            <a:br>
              <a:rPr lang="en-US" sz="1000" dirty="0"/>
            </a:br>
            <a:r>
              <a:rPr lang="en-US" sz="1000" dirty="0"/>
              <a:t>Fix: Always run terraform </a:t>
            </a:r>
            <a:r>
              <a:rPr lang="en-US" sz="1000" dirty="0" err="1"/>
              <a:t>init</a:t>
            </a:r>
            <a:r>
              <a:rPr lang="en-US" sz="1000" dirty="0"/>
              <a:t> when starting a new project.</a:t>
            </a:r>
            <a:br>
              <a:rPr lang="en-US" sz="1000" dirty="0"/>
            </a:br>
            <a:r>
              <a:rPr lang="en-US" sz="1000" dirty="0"/>
              <a:t>4. Authentication Problem</a:t>
            </a:r>
            <a:br>
              <a:rPr lang="en-US" sz="1000" dirty="0"/>
            </a:br>
            <a:r>
              <a:rPr lang="en-US" sz="1000" dirty="0"/>
              <a:t>Terraform can't connect to Azure because you're not authenticated.</a:t>
            </a:r>
            <a:br>
              <a:rPr lang="en-US" sz="1000" dirty="0"/>
            </a:br>
            <a:r>
              <a:rPr lang="en-US" sz="1000" dirty="0"/>
              <a:t>Your Azure CLI session has expired.</a:t>
            </a:r>
            <a:br>
              <a:rPr lang="en-US" sz="1000" dirty="0"/>
            </a:br>
            <a:r>
              <a:rPr lang="en-US" sz="1000" dirty="0"/>
              <a:t>Run </a:t>
            </a:r>
            <a:r>
              <a:rPr lang="en-US" sz="1000" dirty="0" err="1"/>
              <a:t>az</a:t>
            </a:r>
            <a:r>
              <a:rPr lang="en-US" sz="1000" dirty="0"/>
              <a:t> login and verify the correct subscription.</a:t>
            </a:r>
            <a:br>
              <a:rPr lang="en-US" sz="1000" dirty="0"/>
            </a:br>
            <a:r>
              <a:rPr lang="en-US" sz="1000" dirty="0"/>
              <a:t>5. Incorrect Resource Reference</a:t>
            </a:r>
            <a:br>
              <a:rPr lang="en-US" sz="1000" dirty="0"/>
            </a:br>
            <a:r>
              <a:rPr lang="en-US" sz="1000" dirty="0"/>
              <a:t>Terraform is trying to use a resource that doesn't exist.</a:t>
            </a:r>
            <a:br>
              <a:rPr lang="en-US" sz="1000" dirty="0"/>
            </a:br>
            <a:r>
              <a:rPr lang="en-US" sz="1000" dirty="0"/>
              <a:t>Example: You created a resource named </a:t>
            </a:r>
            <a:r>
              <a:rPr lang="en-US" sz="1000" dirty="0" err="1"/>
              <a:t>rg</a:t>
            </a:r>
            <a:r>
              <a:rPr lang="en-US" sz="1000" dirty="0"/>
              <a:t> but referenced it as demo.</a:t>
            </a:r>
            <a:br>
              <a:rPr lang="en-US" sz="1000" dirty="0"/>
            </a:br>
            <a:r>
              <a:rPr lang="en-US" sz="1000" dirty="0"/>
              <a:t>Fix: Double-check your resource names and references.</a:t>
            </a:r>
            <a:br>
              <a:rPr lang="en-US" sz="1000" dirty="0"/>
            </a:br>
            <a:r>
              <a:rPr lang="en-US" sz="1000" dirty="0"/>
              <a:t>6. State-Related Conflict</a:t>
            </a:r>
            <a:br>
              <a:rPr lang="en-US" sz="1000" dirty="0"/>
            </a:br>
            <a:r>
              <a:rPr lang="en-US" sz="1000" dirty="0"/>
              <a:t>Another Terraform operation is already using the state file.</a:t>
            </a:r>
            <a:br>
              <a:rPr lang="en-US" sz="1000" dirty="0"/>
            </a:br>
            <a:r>
              <a:rPr lang="en-US" sz="1000" dirty="0"/>
              <a:t>Example: Two engineers run terraform apply at the same time.</a:t>
            </a:r>
            <a:br>
              <a:rPr lang="en-US" sz="1000" dirty="0"/>
            </a:br>
            <a:r>
              <a:rPr lang="en-US" sz="1000" dirty="0"/>
              <a:t>Fix: Wait for the state lock to be released or resolve it safely.</a:t>
            </a:r>
            <a:br>
              <a:rPr lang="en-US" sz="1000" dirty="0"/>
            </a:br>
            <a:r>
              <a:rPr lang="en-US" sz="1000" dirty="0"/>
              <a:t>SO Troubleshooting Checklist</a:t>
            </a:r>
            <a:br>
              <a:rPr lang="en-US" sz="1000" dirty="0"/>
            </a:br>
            <a:r>
              <a:rPr lang="en-US" sz="1000" dirty="0"/>
              <a:t>✅ terraform </a:t>
            </a:r>
            <a:r>
              <a:rPr lang="en-US" sz="1000" dirty="0" err="1"/>
              <a:t>fmt</a:t>
            </a:r>
            <a:r>
              <a:rPr lang="en-US" sz="1000" dirty="0"/>
              <a:t> – Format the code</a:t>
            </a:r>
            <a:br>
              <a:rPr lang="en-US" sz="1000" dirty="0"/>
            </a:br>
            <a:r>
              <a:rPr lang="en-US" sz="1000" dirty="0"/>
              <a:t>✅ terraform validate – Validate the configuration</a:t>
            </a:r>
            <a:br>
              <a:rPr lang="en-US" sz="1000" dirty="0"/>
            </a:br>
            <a:r>
              <a:rPr lang="en-US" sz="1000" dirty="0"/>
              <a:t>✅ terraform </a:t>
            </a:r>
            <a:r>
              <a:rPr lang="en-US" sz="1000" dirty="0" err="1"/>
              <a:t>init</a:t>
            </a:r>
            <a:r>
              <a:rPr lang="en-US" sz="1000" dirty="0"/>
              <a:t> – Initialize the project</a:t>
            </a:r>
            <a:br>
              <a:rPr lang="en-US" sz="1000" dirty="0"/>
            </a:br>
            <a:r>
              <a:rPr lang="en-US" sz="1000" dirty="0"/>
              <a:t>✅ terraform plan – Preview the changes</a:t>
            </a:r>
            <a:br>
              <a:rPr lang="en-US" sz="1000" dirty="0"/>
            </a:br>
            <a:r>
              <a:rPr lang="en-US" sz="1000" dirty="0"/>
              <a:t>✅ terraform apply – Deploy the infrastructure</a:t>
            </a:r>
            <a:br>
              <a:rPr lang="en-US" sz="1000" dirty="0"/>
            </a:br>
            <a:r>
              <a:rPr lang="en-US" sz="1000" dirty="0"/>
              <a:t>Biggest takeaway:</a:t>
            </a:r>
            <a:br>
              <a:rPr lang="en-US" sz="1000" dirty="0"/>
            </a:br>
            <a:r>
              <a:rPr lang="en-US" sz="800" dirty="0"/>
              <a:t>Don't panic when Terraform throws an error.</a:t>
            </a:r>
            <a:br>
              <a:rPr lang="en-US" sz="800" dirty="0"/>
            </a:br>
            <a:r>
              <a:rPr lang="en-US" sz="800" dirty="0"/>
              <a:t>Read the error message carefully. In most cases, Terraform tells you exactly what went wrong and points you to the line that needs attention.</a:t>
            </a:r>
            <a:br>
              <a:rPr lang="en-US" sz="800" dirty="0"/>
            </a:br>
            <a:r>
              <a:rPr lang="en-US" sz="800" dirty="0"/>
              <a:t>Every error you solve today makes you a better DevOps Engineer tomorrow.</a:t>
            </a:r>
            <a:br>
              <a:rPr lang="en-US" sz="800" dirty="0"/>
            </a:br>
            <a:r>
              <a:rPr lang="en-US" sz="800" dirty="0"/>
              <a:t>What was the first Terraform error you encountered while learning</a:t>
            </a:r>
            <a:r>
              <a:rPr lang="en-US" sz="1000" dirty="0"/>
              <a:t>?</a:t>
            </a:r>
            <a:endParaRPr kumimoji="1" lang="en-US" sz="1000" dirty="0">
              <a:solidFill>
                <a:srgbClr val="000000"/>
              </a:solidFill>
              <a:cs typeface="Calibri" panose="020F0502020204030204" pitchFamily="34" charset="0"/>
            </a:endParaRPr>
          </a:p>
        </p:txBody>
      </p:sp>
    </p:spTree>
    <p:extLst>
      <p:ext uri="{BB962C8B-B14F-4D97-AF65-F5344CB8AC3E}">
        <p14:creationId xmlns:p14="http://schemas.microsoft.com/office/powerpoint/2010/main" val="388809761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B4837-534B-4DC3-9EDB-368F3A6375A2}"/>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86E7E773-3413-6DC1-5D28-C977A89E036D}"/>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9097C9B1-1B8E-779A-B589-93F1E0E19BC4}"/>
              </a:ext>
            </a:extLst>
          </p:cNvPr>
          <p:cNvSpPr txBox="1">
            <a:spLocks/>
          </p:cNvSpPr>
          <p:nvPr/>
        </p:nvSpPr>
        <p:spPr>
          <a:xfrm>
            <a:off x="2047394" y="186868"/>
            <a:ext cx="10391897" cy="107661"/>
          </a:xfrm>
          <a:prstGeom prst="rect">
            <a:avLst/>
          </a:prstGeom>
          <a:solidFill>
            <a:schemeClr val="bg1"/>
          </a:solidFill>
          <a:ln w="12700">
            <a:miter lim="400000"/>
          </a:ln>
          <a:extLst>
            <a:ext uri="{C572A759-6A51-4108-AA02-DFA0A04FC94B}">
              <ma14:wrappingTextBoxFlag xmlns="" xmlns:ma14="http://schemas.microsoft.com/office/mac/drawingml/2011/main"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800" b="0" dirty="0"/>
              <a:t>How do you secure an Azure Landing Zone?</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pic>
        <p:nvPicPr>
          <p:cNvPr id="4" name="Picture 3">
            <a:extLst>
              <a:ext uri="{FF2B5EF4-FFF2-40B4-BE49-F238E27FC236}">
                <a16:creationId xmlns:a16="http://schemas.microsoft.com/office/drawing/2014/main" id="{17768ED9-895C-5327-5C73-984002B11830}"/>
              </a:ext>
            </a:extLst>
          </p:cNvPr>
          <p:cNvPicPr>
            <a:picLocks noChangeAspect="1"/>
          </p:cNvPicPr>
          <p:nvPr/>
        </p:nvPicPr>
        <p:blipFill>
          <a:blip r:embed="rId2"/>
          <a:stretch>
            <a:fillRect/>
          </a:stretch>
        </p:blipFill>
        <p:spPr>
          <a:xfrm>
            <a:off x="5968010" y="609753"/>
            <a:ext cx="5880402" cy="3378374"/>
          </a:xfrm>
          <a:prstGeom prst="rect">
            <a:avLst/>
          </a:prstGeom>
        </p:spPr>
      </p:pic>
      <p:sp>
        <p:nvSpPr>
          <p:cNvPr id="6" name="TextBox 5">
            <a:extLst>
              <a:ext uri="{FF2B5EF4-FFF2-40B4-BE49-F238E27FC236}">
                <a16:creationId xmlns:a16="http://schemas.microsoft.com/office/drawing/2014/main" id="{D3ABB528-D4B0-B9BE-1420-33939C5CF4A6}"/>
              </a:ext>
            </a:extLst>
          </p:cNvPr>
          <p:cNvSpPr txBox="1"/>
          <p:nvPr/>
        </p:nvSpPr>
        <p:spPr>
          <a:xfrm>
            <a:off x="343588" y="690859"/>
            <a:ext cx="6219644" cy="4308872"/>
          </a:xfrm>
          <a:prstGeom prst="rect">
            <a:avLst/>
          </a:prstGeom>
          <a:noFill/>
        </p:spPr>
        <p:txBody>
          <a:bodyPr wrap="square">
            <a:spAutoFit/>
          </a:bodyPr>
          <a:lstStyle/>
          <a:p>
            <a:r>
              <a:rPr lang="en-US" sz="1600" b="0" i="0" dirty="0">
                <a:effectLst/>
                <a:latin typeface="+mn-lt"/>
              </a:rPr>
              <a:t>How do you secure an Azure Landing Zone?</a:t>
            </a:r>
            <a:br>
              <a:rPr lang="en-US" sz="1600" dirty="0"/>
            </a:br>
            <a:r>
              <a:rPr lang="en-US" sz="1600" b="0" i="0" dirty="0">
                <a:effectLst/>
                <a:latin typeface="+mn-lt"/>
              </a:rPr>
              <a:t>When designing an Azure Landing Zone, these are the security components I consider essential:</a:t>
            </a:r>
            <a:br>
              <a:rPr lang="en-US" sz="1600" dirty="0"/>
            </a:br>
            <a:r>
              <a:rPr lang="en-US" sz="1600" b="0" i="0" dirty="0">
                <a:effectLst/>
                <a:latin typeface="+mn-lt"/>
              </a:rPr>
              <a:t>1 Application Gateway with WAF</a:t>
            </a:r>
            <a:br>
              <a:rPr lang="en-US" sz="1600" dirty="0"/>
            </a:br>
            <a:r>
              <a:rPr lang="en-US" sz="1600" b="0" i="0" dirty="0">
                <a:effectLst/>
                <a:latin typeface="+mn-lt"/>
              </a:rPr>
              <a:t>2 Azure Firewall, NSG, ASG &amp; Bastion</a:t>
            </a:r>
            <a:br>
              <a:rPr lang="en-US" sz="1600" dirty="0"/>
            </a:br>
            <a:r>
              <a:rPr lang="en-US" sz="1600" b="0" i="0" dirty="0">
                <a:effectLst/>
                <a:latin typeface="+mn-lt"/>
              </a:rPr>
              <a:t>3Azure Key Vault for secrets management</a:t>
            </a:r>
            <a:br>
              <a:rPr lang="en-US" sz="1600" dirty="0"/>
            </a:br>
            <a:r>
              <a:rPr lang="en-US" sz="1600" b="0" i="0" dirty="0">
                <a:effectLst/>
                <a:latin typeface="+mn-lt"/>
              </a:rPr>
              <a:t>4 RBAC &amp; Azure Policy</a:t>
            </a:r>
            <a:br>
              <a:rPr lang="en-US" sz="1600" dirty="0"/>
            </a:br>
            <a:r>
              <a:rPr lang="en-US" sz="1600" b="0" i="0" dirty="0">
                <a:effectLst/>
                <a:latin typeface="+mn-lt"/>
              </a:rPr>
              <a:t>5 Microsoft Entra ID with MFA &amp; PIM</a:t>
            </a:r>
            <a:br>
              <a:rPr lang="en-US" sz="1600" dirty="0"/>
            </a:br>
            <a:r>
              <a:rPr lang="en-US" sz="1600" b="0" i="0" dirty="0">
                <a:effectLst/>
                <a:latin typeface="+mn-lt"/>
              </a:rPr>
              <a:t>6 Microsoft Defender for Cloud &amp; Microsoft Sentinel</a:t>
            </a:r>
            <a:br>
              <a:rPr lang="en-US" sz="1600" dirty="0"/>
            </a:br>
            <a:r>
              <a:rPr lang="en-US" sz="1600" b="0" i="0" dirty="0">
                <a:effectLst/>
                <a:latin typeface="+mn-lt"/>
              </a:rPr>
              <a:t>7Managed Identity</a:t>
            </a:r>
            <a:br>
              <a:rPr lang="en-US" sz="1600" dirty="0"/>
            </a:br>
            <a:r>
              <a:rPr lang="en-US" sz="1600" b="0" i="0" dirty="0">
                <a:effectLst/>
                <a:latin typeface="+mn-lt"/>
              </a:rPr>
              <a:t>8Private Endpoints &amp; Service Endpoints</a:t>
            </a:r>
            <a:br>
              <a:rPr lang="en-US" sz="1600" dirty="0"/>
            </a:br>
            <a:r>
              <a:rPr lang="en-US" sz="1600" b="0" i="0" dirty="0">
                <a:effectLst/>
                <a:latin typeface="+mn-lt"/>
              </a:rPr>
              <a:t>9 SSL Certificates</a:t>
            </a:r>
            <a:br>
              <a:rPr lang="en-US" sz="1600" dirty="0"/>
            </a:br>
            <a:br>
              <a:rPr lang="en-US" sz="1600" dirty="0"/>
            </a:br>
            <a:r>
              <a:rPr lang="en-US" sz="1600" b="0" i="0" dirty="0">
                <a:effectLst/>
                <a:latin typeface="+mn-lt"/>
              </a:rPr>
              <a:t>Every environment has different requirements, but these controls provide a solid baseline for improving security, governance, and operational efficiency.</a:t>
            </a:r>
            <a:br>
              <a:rPr lang="en-US" dirty="0"/>
            </a:br>
            <a:endParaRPr lang="en-US" dirty="0"/>
          </a:p>
        </p:txBody>
      </p:sp>
    </p:spTree>
    <p:extLst>
      <p:ext uri="{BB962C8B-B14F-4D97-AF65-F5344CB8AC3E}">
        <p14:creationId xmlns:p14="http://schemas.microsoft.com/office/powerpoint/2010/main" val="22684085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F31DD-575C-037C-C72F-2FDF3FED16A9}"/>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6CAC565-2BE2-7197-626E-0E4B7E58E608}"/>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5AF42DD8-4B26-E36D-1792-0C44DA696519}"/>
              </a:ext>
            </a:extLst>
          </p:cNvPr>
          <p:cNvSpPr txBox="1">
            <a:spLocks/>
          </p:cNvSpPr>
          <p:nvPr/>
        </p:nvSpPr>
        <p:spPr>
          <a:xfrm>
            <a:off x="2047394" y="186868"/>
            <a:ext cx="10391897" cy="10766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800" dirty="0"/>
              <a:t>Today, something interesting about Azure Networking</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6" name="TextBox 5">
            <a:extLst>
              <a:ext uri="{FF2B5EF4-FFF2-40B4-BE49-F238E27FC236}">
                <a16:creationId xmlns:a16="http://schemas.microsoft.com/office/drawing/2014/main" id="{AD92FA34-1476-3E48-C7F4-DE693CEF272B}"/>
              </a:ext>
            </a:extLst>
          </p:cNvPr>
          <p:cNvSpPr txBox="1"/>
          <p:nvPr/>
        </p:nvSpPr>
        <p:spPr>
          <a:xfrm>
            <a:off x="343588" y="690859"/>
            <a:ext cx="5030669" cy="5632311"/>
          </a:xfrm>
          <a:prstGeom prst="rect">
            <a:avLst/>
          </a:prstGeom>
          <a:noFill/>
        </p:spPr>
        <p:txBody>
          <a:bodyPr wrap="square">
            <a:spAutoFit/>
          </a:bodyPr>
          <a:lstStyle/>
          <a:p>
            <a:r>
              <a:rPr lang="en-US" dirty="0"/>
              <a:t>Today, something interesting about Azure Networking. I always thought connecting applications running in different Azure regions would require what?. But Global </a:t>
            </a:r>
            <a:r>
              <a:rPr lang="en-US" dirty="0" err="1"/>
              <a:t>VNet</a:t>
            </a:r>
            <a:r>
              <a:rPr lang="en-US" dirty="0"/>
              <a:t> Peering, which allows two Virtual Networks in different regions to communicate securely over Microsoft's private backbone network—without a VPN Gateway.</a:t>
            </a:r>
            <a:br>
              <a:rPr lang="en-US" sz="1600" dirty="0"/>
            </a:br>
            <a:r>
              <a:rPr lang="en-US" dirty="0"/>
              <a:t>Creating it using Terraform made the concept much easier to understand. Every day, I'm learning something new on my Azure and DevOps journey. </a:t>
            </a:r>
            <a:br>
              <a:rPr lang="en-US" sz="1600" dirty="0"/>
            </a:br>
            <a:r>
              <a:rPr lang="en-US" dirty="0"/>
              <a:t>Terraform Steps:</a:t>
            </a:r>
            <a:br>
              <a:rPr lang="en-US" sz="1600" dirty="0"/>
            </a:br>
            <a:r>
              <a:rPr lang="en-US" dirty="0"/>
              <a:t>Step 1: Load Provider</a:t>
            </a:r>
            <a:br>
              <a:rPr lang="en-US" sz="1600" dirty="0"/>
            </a:br>
            <a:r>
              <a:rPr lang="en-US" dirty="0"/>
              <a:t>Step 2: Create Resource Group 1-</a:t>
            </a:r>
            <a:br>
              <a:rPr lang="en-US" sz="1600" dirty="0"/>
            </a:br>
            <a:r>
              <a:rPr lang="en-US" dirty="0"/>
              <a:t>Step 3: Create Resource Group 2</a:t>
            </a:r>
            <a:br>
              <a:rPr lang="en-US" sz="1600" dirty="0"/>
            </a:br>
            <a:r>
              <a:rPr lang="en-US" dirty="0"/>
              <a:t>Step 4: Create India </a:t>
            </a:r>
            <a:r>
              <a:rPr lang="en-US" dirty="0" err="1"/>
              <a:t>VNet</a:t>
            </a:r>
            <a:br>
              <a:rPr lang="en-US" sz="1600" dirty="0"/>
            </a:br>
            <a:r>
              <a:rPr lang="en-US" dirty="0"/>
              <a:t>Step 5: Create USA </a:t>
            </a:r>
            <a:r>
              <a:rPr lang="en-US" dirty="0" err="1"/>
              <a:t>VNet</a:t>
            </a:r>
            <a:br>
              <a:rPr lang="en-US" sz="1600" dirty="0"/>
            </a:br>
            <a:r>
              <a:rPr lang="en-US" dirty="0"/>
              <a:t>Step 6: Create First Peering </a:t>
            </a:r>
            <a:br>
              <a:rPr lang="en-US" sz="1600" dirty="0"/>
            </a:br>
            <a:r>
              <a:rPr lang="en-US" dirty="0"/>
              <a:t>Step 7: Create Second Peering</a:t>
            </a:r>
            <a:br>
              <a:rPr lang="en-US" dirty="0"/>
            </a:br>
            <a:endParaRPr lang="en-US" dirty="0"/>
          </a:p>
        </p:txBody>
      </p:sp>
      <p:pic>
        <p:nvPicPr>
          <p:cNvPr id="2" name="Picture 1" descr="View image">
            <a:extLst>
              <a:ext uri="{FF2B5EF4-FFF2-40B4-BE49-F238E27FC236}">
                <a16:creationId xmlns:a16="http://schemas.microsoft.com/office/drawing/2014/main" id="{D8EC8708-CAB6-D8D9-6CBF-8F7428954211}"/>
              </a:ext>
            </a:extLst>
          </p:cNvPr>
          <p:cNvPicPr>
            <a:picLocks noChangeAspect="1"/>
          </p:cNvPicPr>
          <p:nvPr/>
        </p:nvPicPr>
        <p:blipFill>
          <a:blip r:embed="rId2"/>
          <a:stretch>
            <a:fillRect/>
          </a:stretch>
        </p:blipFill>
        <p:spPr>
          <a:xfrm>
            <a:off x="5124091" y="625916"/>
            <a:ext cx="6304831" cy="5438454"/>
          </a:xfrm>
          <a:prstGeom prst="rect">
            <a:avLst/>
          </a:prstGeom>
        </p:spPr>
      </p:pic>
    </p:spTree>
    <p:extLst>
      <p:ext uri="{BB962C8B-B14F-4D97-AF65-F5344CB8AC3E}">
        <p14:creationId xmlns:p14="http://schemas.microsoft.com/office/powerpoint/2010/main" val="282364458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82115-537F-FB4A-2BEF-CFC8AE00BB7F}"/>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0EC5610-C84B-FFF8-A7FC-D5E8682329FD}"/>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E082BB2E-172E-1288-0443-D1AB8AC78372}"/>
              </a:ext>
            </a:extLst>
          </p:cNvPr>
          <p:cNvSpPr txBox="1">
            <a:spLocks/>
          </p:cNvSpPr>
          <p:nvPr/>
        </p:nvSpPr>
        <p:spPr>
          <a:xfrm>
            <a:off x="2047394" y="186868"/>
            <a:ext cx="10391897" cy="10766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800" dirty="0"/>
              <a:t>Today, something interesting about Azure Networking</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pic>
        <p:nvPicPr>
          <p:cNvPr id="5" name="Picture 4">
            <a:extLst>
              <a:ext uri="{FF2B5EF4-FFF2-40B4-BE49-F238E27FC236}">
                <a16:creationId xmlns:a16="http://schemas.microsoft.com/office/drawing/2014/main" id="{C15D7C99-5158-7146-CFC5-745E226EA102}"/>
              </a:ext>
            </a:extLst>
          </p:cNvPr>
          <p:cNvPicPr>
            <a:picLocks noChangeAspect="1"/>
          </p:cNvPicPr>
          <p:nvPr/>
        </p:nvPicPr>
        <p:blipFill>
          <a:blip r:embed="rId2"/>
          <a:stretch>
            <a:fillRect/>
          </a:stretch>
        </p:blipFill>
        <p:spPr>
          <a:xfrm>
            <a:off x="1345720" y="634254"/>
            <a:ext cx="8428008" cy="5469901"/>
          </a:xfrm>
          <a:prstGeom prst="rect">
            <a:avLst/>
          </a:prstGeom>
        </p:spPr>
      </p:pic>
    </p:spTree>
    <p:extLst>
      <p:ext uri="{BB962C8B-B14F-4D97-AF65-F5344CB8AC3E}">
        <p14:creationId xmlns:p14="http://schemas.microsoft.com/office/powerpoint/2010/main" val="368381021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4E99-63FC-4541-6E4C-AD6827F52D8B}"/>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6AD96C7-64FF-AE62-F125-1EA5172DBDB8}"/>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FDFBCFA1-252E-FFF5-4A77-DC8643806468}"/>
              </a:ext>
            </a:extLst>
          </p:cNvPr>
          <p:cNvSpPr txBox="1">
            <a:spLocks/>
          </p:cNvSpPr>
          <p:nvPr/>
        </p:nvSpPr>
        <p:spPr>
          <a:xfrm>
            <a:off x="2047394" y="186868"/>
            <a:ext cx="10391897" cy="107661"/>
          </a:xfrm>
          <a:prstGeom prst="rect">
            <a:avLst/>
          </a:prstGeom>
          <a:solidFill>
            <a:schemeClr val="bg1"/>
          </a:solidFill>
          <a:ln w="12700">
            <a:miter lim="400000"/>
          </a:ln>
          <a:extLst>
            <a:ext uri="{C572A759-6A51-4108-AA02-DFA0A04FC94B}">
              <ma14:wrappingTextBoxFlag xmlns="" xmlns:ma14="http://schemas.microsoft.com/office/mac/drawingml/2011/main"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800" dirty="0"/>
              <a:t>Today, something interesting about Azure Networking</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6" name="TextBox 5">
            <a:extLst>
              <a:ext uri="{FF2B5EF4-FFF2-40B4-BE49-F238E27FC236}">
                <a16:creationId xmlns:a16="http://schemas.microsoft.com/office/drawing/2014/main" id="{93F6CF6B-1CF9-CCA1-538D-1C03E9CADC0F}"/>
              </a:ext>
            </a:extLst>
          </p:cNvPr>
          <p:cNvSpPr txBox="1"/>
          <p:nvPr/>
        </p:nvSpPr>
        <p:spPr>
          <a:xfrm>
            <a:off x="219512" y="577970"/>
            <a:ext cx="11734800" cy="5747727"/>
          </a:xfrm>
          <a:prstGeom prst="rect">
            <a:avLst/>
          </a:prstGeom>
          <a:noFill/>
        </p:spPr>
        <p:txBody>
          <a:bodyPr wrap="square">
            <a:spAutoFit/>
          </a:bodyPr>
          <a:lstStyle/>
          <a:p>
            <a:r>
              <a:rPr lang="en-US" sz="1050" dirty="0"/>
              <a:t>What is a Terraform Lifecycle?</a:t>
            </a:r>
            <a:br>
              <a:rPr lang="en-US" sz="1050" dirty="0"/>
            </a:br>
            <a:br>
              <a:rPr lang="en-US" sz="1050" dirty="0"/>
            </a:br>
            <a:r>
              <a:rPr lang="en-US" sz="1050" dirty="0"/>
              <a:t>By default, if you change something on a server, Terraform will delete the old server first and then make a new one. But this can crash your website!</a:t>
            </a:r>
            <a:br>
              <a:rPr lang="en-US" sz="1050" dirty="0"/>
            </a:br>
            <a:br>
              <a:rPr lang="en-US" sz="1050" dirty="0"/>
            </a:br>
            <a:r>
              <a:rPr lang="en-US" sz="1050" dirty="0"/>
              <a:t>To fix this, we use a lifecycle block. It is a set of 4 simple rules (Chacha Rest In Peace) to keep your infrastructure safe: where C (</a:t>
            </a:r>
            <a:r>
              <a:rPr lang="en-US" sz="1050" dirty="0" err="1"/>
              <a:t>Create_before_destroy</a:t>
            </a:r>
            <a:r>
              <a:rPr lang="en-US" sz="1050" dirty="0"/>
              <a:t>) R(</a:t>
            </a:r>
            <a:r>
              <a:rPr lang="en-US" sz="1050" dirty="0" err="1"/>
              <a:t>replace_triggered_by</a:t>
            </a:r>
            <a:r>
              <a:rPr lang="en-US" sz="1050" dirty="0"/>
              <a:t>) I(</a:t>
            </a:r>
            <a:r>
              <a:rPr lang="en-US" sz="1050" dirty="0" err="1"/>
              <a:t>Ignore_changes</a:t>
            </a:r>
            <a:r>
              <a:rPr lang="en-US" sz="1050" dirty="0"/>
              <a:t>) P(Prevent Destroy)</a:t>
            </a:r>
            <a:br>
              <a:rPr lang="en-US" sz="1050" dirty="0"/>
            </a:br>
            <a:br>
              <a:rPr lang="en-US" sz="1050" dirty="0"/>
            </a:br>
            <a:r>
              <a:rPr lang="en-US" sz="1050" dirty="0"/>
              <a:t>1-Create_before_destroy (New first, then delete old)</a:t>
            </a:r>
            <a:br>
              <a:rPr lang="en-US" sz="1050" dirty="0"/>
            </a:br>
            <a:r>
              <a:rPr lang="en-US" sz="1050" dirty="0"/>
              <a:t>🏠 Simple Analogy: You want a new house. You </a:t>
            </a:r>
            <a:r>
              <a:rPr lang="en-US" sz="1050" dirty="0" err="1"/>
              <a:t>dont</a:t>
            </a:r>
            <a:r>
              <a:rPr lang="en-US" sz="1050" dirty="0"/>
              <a:t> tear down your old house first, or you will have nowhere to live! You build the new house first, move in, and then destroy the old one.</a:t>
            </a:r>
            <a:br>
              <a:rPr lang="en-US" sz="1050" dirty="0"/>
            </a:br>
            <a:r>
              <a:rPr lang="en-US" sz="1050" dirty="0"/>
              <a:t>💻 In Terraform: Terraform builds the new server first. Once it works, it deletes the old one. This means your website never goes down.</a:t>
            </a:r>
            <a:br>
              <a:rPr lang="en-US" sz="1050" dirty="0"/>
            </a:br>
            <a:br>
              <a:rPr lang="en-US" sz="1050" dirty="0"/>
            </a:br>
            <a:r>
              <a:rPr lang="en-US" sz="1050" dirty="0"/>
              <a:t>lifecycle {</a:t>
            </a:r>
            <a:br>
              <a:rPr lang="en-US" sz="1050" dirty="0"/>
            </a:br>
            <a:r>
              <a:rPr lang="en-US" sz="1050" dirty="0" err="1"/>
              <a:t>prevent_destroy</a:t>
            </a:r>
            <a:r>
              <a:rPr lang="en-US" sz="1050" dirty="0"/>
              <a:t> = true</a:t>
            </a:r>
            <a:br>
              <a:rPr lang="en-US" sz="1050" dirty="0"/>
            </a:br>
            <a:r>
              <a:rPr lang="en-US" sz="1050" dirty="0"/>
              <a:t>}</a:t>
            </a:r>
            <a:br>
              <a:rPr lang="en-US" sz="1050" dirty="0"/>
            </a:br>
            <a:br>
              <a:rPr lang="en-US" sz="1050" dirty="0"/>
            </a:br>
            <a:r>
              <a:rPr lang="en-US" sz="1050" dirty="0"/>
              <a:t>2-Ignore outside edits)</a:t>
            </a:r>
            <a:r>
              <a:rPr lang="en-US" sz="1050" dirty="0" err="1"/>
              <a:t>Ignore_changes</a:t>
            </a:r>
            <a:r>
              <a:rPr lang="en-US" sz="1050" dirty="0"/>
              <a:t> (</a:t>
            </a:r>
            <a:br>
              <a:rPr lang="en-US" sz="1050" dirty="0"/>
            </a:br>
            <a:r>
              <a:rPr lang="en-US" sz="1050" dirty="0"/>
              <a:t>🚗 Simple Analogy: You buy a car and add a new music system to it. When you take the car for servicing, you </a:t>
            </a:r>
            <a:r>
              <a:rPr lang="en-US" sz="1050" dirty="0" err="1"/>
              <a:t>dont</a:t>
            </a:r>
            <a:r>
              <a:rPr lang="en-US" sz="1050" dirty="0"/>
              <a:t> want the mechanic to remove your music system just to make it look like a factory car again.</a:t>
            </a:r>
            <a:br>
              <a:rPr lang="en-US" sz="1050" dirty="0"/>
            </a:br>
            <a:r>
              <a:rPr lang="en-US" sz="1050" dirty="0"/>
              <a:t>💻 In Terraform: Sometimes, a teammate changes a setting manually on the cloud console (like AWS). This rule tells Terraform: </a:t>
            </a:r>
            <a:r>
              <a:rPr lang="en-US" sz="1050" dirty="0" err="1"/>
              <a:t>Dont</a:t>
            </a:r>
            <a:r>
              <a:rPr lang="en-US" sz="1050" dirty="0"/>
              <a:t> touch or fix that manual change, leave it alone.</a:t>
            </a:r>
            <a:br>
              <a:rPr lang="en-US" sz="1050" dirty="0"/>
            </a:br>
            <a:br>
              <a:rPr lang="en-US" sz="1050" dirty="0"/>
            </a:br>
            <a:r>
              <a:rPr lang="en-US" sz="1050" dirty="0"/>
              <a:t>lifecycle {</a:t>
            </a:r>
            <a:br>
              <a:rPr lang="en-US" sz="1050" dirty="0"/>
            </a:br>
            <a:r>
              <a:rPr lang="en-US" sz="1050" dirty="0" err="1"/>
              <a:t>ignore_changes</a:t>
            </a:r>
            <a:r>
              <a:rPr lang="en-US" sz="1050" dirty="0"/>
              <a:t> = [ tags ]</a:t>
            </a:r>
            <a:br>
              <a:rPr lang="en-US" sz="1050" dirty="0"/>
            </a:br>
            <a:r>
              <a:rPr lang="en-US" sz="1050" dirty="0"/>
              <a:t>}</a:t>
            </a:r>
            <a:br>
              <a:rPr lang="en-US" sz="1050" dirty="0"/>
            </a:br>
            <a:br>
              <a:rPr lang="en-US" sz="1050" dirty="0"/>
            </a:br>
            <a:r>
              <a:rPr lang="en-US" sz="1050" dirty="0"/>
              <a:t>3-Prevent_destroy (Never delete this!)</a:t>
            </a:r>
            <a:br>
              <a:rPr lang="en-US" sz="1050" dirty="0"/>
            </a:br>
            <a:r>
              <a:rPr lang="en-US" sz="1050" dirty="0"/>
              <a:t>🔒 Simple Analogy: Putting a huge padlock on your most important safe so no one can open or throw it away.</a:t>
            </a:r>
            <a:br>
              <a:rPr lang="en-US" sz="1050" dirty="0"/>
            </a:br>
            <a:r>
              <a:rPr lang="en-US" sz="1050" dirty="0"/>
              <a:t>💻 In Terraform: If someone accidentally tries to delete your main database, Terraform stops them and shows an error. It protects your most important data from being erased by mistake.</a:t>
            </a:r>
            <a:br>
              <a:rPr lang="en-US" sz="1050" dirty="0"/>
            </a:br>
            <a:br>
              <a:rPr lang="en-US" sz="1050" dirty="0"/>
            </a:br>
            <a:r>
              <a:rPr lang="en-US" sz="1050" dirty="0"/>
              <a:t>lifecycle {</a:t>
            </a:r>
            <a:br>
              <a:rPr lang="en-US" sz="1050" dirty="0"/>
            </a:br>
            <a:r>
              <a:rPr lang="en-US" sz="1050" dirty="0" err="1"/>
              <a:t>prevent_destroy</a:t>
            </a:r>
            <a:r>
              <a:rPr lang="en-US" sz="1050" dirty="0"/>
              <a:t> = true</a:t>
            </a:r>
            <a:br>
              <a:rPr lang="en-US" sz="1050" dirty="0"/>
            </a:br>
            <a:r>
              <a:rPr lang="en-US" sz="1050" dirty="0"/>
              <a:t>}</a:t>
            </a:r>
            <a:br>
              <a:rPr lang="en-US" sz="1050" dirty="0"/>
            </a:br>
            <a:br>
              <a:rPr lang="en-US" sz="1050" dirty="0"/>
            </a:br>
            <a:r>
              <a:rPr lang="en-US" sz="1050" dirty="0"/>
              <a:t>4-Replace_triggered_by (If that changes, recreate this too)</a:t>
            </a:r>
            <a:br>
              <a:rPr lang="en-US" sz="1050" dirty="0"/>
            </a:br>
            <a:br>
              <a:rPr lang="en-US" sz="1050" dirty="0"/>
            </a:br>
            <a:r>
              <a:rPr lang="en-US" sz="1050" dirty="0"/>
              <a:t>📱 Simple Analogy: If your phone's main internal chip breaks, you usually have to replace the whole phone because they depend on each other.</a:t>
            </a:r>
            <a:br>
              <a:rPr lang="en-US" sz="1050" dirty="0"/>
            </a:br>
            <a:r>
              <a:rPr lang="en-US" sz="1050" dirty="0"/>
              <a:t>💻 In Terraform: This links two items together. For example, if your security rules change, this rule tells Terraform to automatically delete and recreate the server so it matches the new security layout perfectly.</a:t>
            </a:r>
          </a:p>
        </p:txBody>
      </p:sp>
    </p:spTree>
    <p:extLst>
      <p:ext uri="{BB962C8B-B14F-4D97-AF65-F5344CB8AC3E}">
        <p14:creationId xmlns:p14="http://schemas.microsoft.com/office/powerpoint/2010/main" val="204643352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EEA7-A6EA-6B7A-3B3F-C38313B941A7}"/>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7270CF2-221A-D3A9-8496-288785E8CC48}"/>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ECB48734-6EAC-862C-3B88-3951860D9DD3}"/>
              </a:ext>
            </a:extLst>
          </p:cNvPr>
          <p:cNvSpPr txBox="1">
            <a:spLocks/>
          </p:cNvSpPr>
          <p:nvPr/>
        </p:nvSpPr>
        <p:spPr>
          <a:xfrm>
            <a:off x="2047394" y="186868"/>
            <a:ext cx="10391897" cy="10766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b="0" dirty="0"/>
              <a:t>Troubleshooting Azure Application Gateway Errors: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pic>
        <p:nvPicPr>
          <p:cNvPr id="8" name="Picture 7">
            <a:extLst>
              <a:ext uri="{FF2B5EF4-FFF2-40B4-BE49-F238E27FC236}">
                <a16:creationId xmlns:a16="http://schemas.microsoft.com/office/drawing/2014/main" id="{2DD4F8E8-F7AB-9F11-47D2-F6F05A2BD82C}"/>
              </a:ext>
            </a:extLst>
          </p:cNvPr>
          <p:cNvPicPr>
            <a:picLocks noChangeAspect="1"/>
          </p:cNvPicPr>
          <p:nvPr/>
        </p:nvPicPr>
        <p:blipFill>
          <a:blip r:embed="rId2"/>
          <a:stretch>
            <a:fillRect/>
          </a:stretch>
        </p:blipFill>
        <p:spPr>
          <a:xfrm>
            <a:off x="1270858" y="693887"/>
            <a:ext cx="7286545" cy="5440720"/>
          </a:xfrm>
          <a:prstGeom prst="rect">
            <a:avLst/>
          </a:prstGeom>
        </p:spPr>
      </p:pic>
    </p:spTree>
    <p:extLst>
      <p:ext uri="{BB962C8B-B14F-4D97-AF65-F5344CB8AC3E}">
        <p14:creationId xmlns:p14="http://schemas.microsoft.com/office/powerpoint/2010/main" val="131589130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588FC-49AF-80DD-578E-4C82FE5835C0}"/>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762541DD-85EF-A28E-8259-F79E211F47DA}"/>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3CC39004-180B-4946-B2F2-98AC76D6C11B}"/>
              </a:ext>
            </a:extLst>
          </p:cNvPr>
          <p:cNvSpPr txBox="1">
            <a:spLocks/>
          </p:cNvSpPr>
          <p:nvPr/>
        </p:nvSpPr>
        <p:spPr>
          <a:xfrm>
            <a:off x="2047394" y="186868"/>
            <a:ext cx="10391897" cy="107661"/>
          </a:xfrm>
          <a:prstGeom prst="rect">
            <a:avLst/>
          </a:prstGeom>
          <a:solidFill>
            <a:schemeClr val="bg1"/>
          </a:solidFill>
          <a:ln w="12700">
            <a:miter lim="400000"/>
          </a:ln>
          <a:extLst>
            <a:ext uri="{C572A759-6A51-4108-AA02-DFA0A04FC94B}">
              <ma14:wrappingTextBoxFlag xmlns="" xmlns:ma14="http://schemas.microsoft.com/office/mac/drawingml/2011/main"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b="0" dirty="0"/>
              <a:t>Troubleshooting Azure Application Gateway Errors: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4" name="TextBox 3">
            <a:extLst>
              <a:ext uri="{FF2B5EF4-FFF2-40B4-BE49-F238E27FC236}">
                <a16:creationId xmlns:a16="http://schemas.microsoft.com/office/drawing/2014/main" id="{CDAE9767-47F8-AC2C-7213-C9A0F79028B0}"/>
              </a:ext>
            </a:extLst>
          </p:cNvPr>
          <p:cNvSpPr txBox="1"/>
          <p:nvPr/>
        </p:nvSpPr>
        <p:spPr>
          <a:xfrm>
            <a:off x="370936" y="467490"/>
            <a:ext cx="11734800" cy="5386090"/>
          </a:xfrm>
          <a:prstGeom prst="rect">
            <a:avLst/>
          </a:prstGeom>
          <a:noFill/>
        </p:spPr>
        <p:txBody>
          <a:bodyPr wrap="square">
            <a:spAutoFit/>
          </a:bodyPr>
          <a:lstStyle/>
          <a:p>
            <a:r>
              <a:rPr lang="en-US" sz="1600" b="0" i="0" dirty="0">
                <a:effectLst/>
                <a:latin typeface="+mn-lt"/>
              </a:rPr>
              <a:t>Request Flow: Production Troubleshooting. If you've ever dealt with a sudden 502 Bad Gateway or 504 Gateway Timeout in production, you know how critical it is to understand your end-to-end traffic flow!</a:t>
            </a:r>
            <a:br>
              <a:rPr lang="en-US" sz="1600" dirty="0"/>
            </a:br>
            <a:br>
              <a:rPr lang="en-US" sz="1600" dirty="0"/>
            </a:br>
            <a:r>
              <a:rPr lang="en-US" sz="1600" b="0" i="0" dirty="0">
                <a:effectLst/>
                <a:latin typeface="+mn-lt"/>
              </a:rPr>
              <a:t>When managing Layer 7 load balancing in Azure, looking at a visual breakdown makes all the difference. Here is a simple guide to how requests move and how to diagnose issues when things go wrong:</a:t>
            </a:r>
            <a:br>
              <a:rPr lang="en-US" sz="1600" dirty="0"/>
            </a:br>
            <a:br>
              <a:rPr lang="en-US" sz="1600" dirty="0"/>
            </a:br>
            <a:r>
              <a:rPr lang="en-US" sz="1600" b="0" i="0" dirty="0">
                <a:effectLst/>
                <a:latin typeface="+mn-lt"/>
              </a:rPr>
              <a:t>1:The Request Flow: Client Request: Hits the Application Gateway frontend IP/Listener (Port 443) with TLS termination. Routing Rules: Inspects hostnames and URL paths (like /</a:t>
            </a:r>
            <a:r>
              <a:rPr lang="en-US" sz="1600" b="0" i="0" dirty="0" err="1">
                <a:effectLst/>
                <a:latin typeface="+mn-lt"/>
              </a:rPr>
              <a:t>api</a:t>
            </a:r>
            <a:r>
              <a:rPr lang="en-US" sz="1600" b="0" i="0" dirty="0">
                <a:effectLst/>
                <a:latin typeface="+mn-lt"/>
              </a:rPr>
              <a:t> vs /images).Backend Pool amp; HTTP Settings: Forwards traffic safely to your healthy backend servers.</a:t>
            </a:r>
            <a:br>
              <a:rPr lang="en-US" sz="1600" dirty="0"/>
            </a:br>
            <a:br>
              <a:rPr lang="en-US" sz="1600" dirty="0"/>
            </a:br>
            <a:r>
              <a:rPr lang="en-US" sz="1600" b="0" i="0" dirty="0">
                <a:effectLst/>
                <a:latin typeface="+mn-lt"/>
              </a:rPr>
              <a:t>🛠️ Production Troubleshooting :</a:t>
            </a:r>
            <a:br>
              <a:rPr lang="en-US" sz="1600" dirty="0"/>
            </a:br>
            <a:r>
              <a:rPr lang="en-US" sz="1600" b="0" i="0" dirty="0">
                <a:effectLst/>
                <a:latin typeface="+mn-lt"/>
              </a:rPr>
              <a:t>502 Bad Gateway (Unhealthy Backends): Don't panic or just restart! Check your Backend Health first. Look for probe timeouts, blocked Network Security Group (NSG) ports, or broken TLS trust chains.</a:t>
            </a:r>
            <a:br>
              <a:rPr lang="en-US" sz="1600" dirty="0"/>
            </a:br>
            <a:br>
              <a:rPr lang="en-US" sz="1600" dirty="0"/>
            </a:br>
            <a:r>
              <a:rPr lang="en-US" sz="1600" b="0" i="0" dirty="0">
                <a:effectLst/>
                <a:latin typeface="+mn-lt"/>
              </a:rPr>
              <a:t>504 Gateway Timeout:</a:t>
            </a:r>
            <a:br>
              <a:rPr lang="en-US" sz="1600" dirty="0"/>
            </a:br>
            <a:r>
              <a:rPr lang="en-US" sz="1600" b="0" i="0" dirty="0">
                <a:effectLst/>
                <a:latin typeface="+mn-lt"/>
              </a:rPr>
              <a:t>Investigate backend latency, heavy dependencies, or long-running database queries before blindly extending timeouts.403 Forbidden: Check if your Web Application Firewall (WAF) or backend </a:t>
            </a:r>
            <a:r>
              <a:rPr lang="en-US" sz="1600" b="0" i="0" dirty="0" err="1">
                <a:effectLst/>
                <a:latin typeface="+mn-lt"/>
              </a:rPr>
              <a:t>authorisation</a:t>
            </a:r>
            <a:r>
              <a:rPr lang="en-US" sz="1600" b="0" i="0" dirty="0">
                <a:effectLst/>
                <a:latin typeface="+mn-lt"/>
              </a:rPr>
              <a:t> rules are blocking the request.</a:t>
            </a:r>
            <a:br>
              <a:rPr lang="en-US" dirty="0"/>
            </a:br>
            <a:br>
              <a:rPr lang="en-US" dirty="0"/>
            </a:br>
            <a:br>
              <a:rPr lang="en-US" dirty="0"/>
            </a:br>
            <a:r>
              <a:rPr lang="en-US" sz="1800" b="0" i="0" dirty="0">
                <a:effectLst/>
                <a:latin typeface="+mn-lt"/>
              </a:rPr>
              <a:t>Pro-tip: A 200 OK health probe doesn't guarantee your core API endpoints are healthy—always correlate gateway metrics with backend app logs</a:t>
            </a:r>
            <a:endParaRPr lang="en-US" dirty="0"/>
          </a:p>
        </p:txBody>
      </p:sp>
    </p:spTree>
    <p:extLst>
      <p:ext uri="{BB962C8B-B14F-4D97-AF65-F5344CB8AC3E}">
        <p14:creationId xmlns:p14="http://schemas.microsoft.com/office/powerpoint/2010/main" val="154427806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4516E-9642-3FBE-4B2D-FB7D567CB758}"/>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B6580BE-DE46-708B-C8FD-A6A9C684CEB8}"/>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B99324B3-1ED7-29A4-E95F-55A0629B74CD}"/>
              </a:ext>
            </a:extLst>
          </p:cNvPr>
          <p:cNvSpPr txBox="1">
            <a:spLocks/>
          </p:cNvSpPr>
          <p:nvPr/>
        </p:nvSpPr>
        <p:spPr>
          <a:xfrm>
            <a:off x="1141620" y="109230"/>
            <a:ext cx="10391897" cy="10766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b="0" dirty="0"/>
              <a:t>Terraform Learning Journey | Day — Exploring Terraform CLI Commands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sp>
        <p:nvSpPr>
          <p:cNvPr id="4" name="TextBox 3">
            <a:extLst>
              <a:ext uri="{FF2B5EF4-FFF2-40B4-BE49-F238E27FC236}">
                <a16:creationId xmlns:a16="http://schemas.microsoft.com/office/drawing/2014/main" id="{8CF73840-B0A1-A1CF-42C1-9AEA33F752DF}"/>
              </a:ext>
            </a:extLst>
          </p:cNvPr>
          <p:cNvSpPr txBox="1"/>
          <p:nvPr/>
        </p:nvSpPr>
        <p:spPr>
          <a:xfrm>
            <a:off x="370936" y="467490"/>
            <a:ext cx="11734800" cy="5909310"/>
          </a:xfrm>
          <a:prstGeom prst="rect">
            <a:avLst/>
          </a:prstGeom>
          <a:noFill/>
        </p:spPr>
        <p:txBody>
          <a:bodyPr wrap="square">
            <a:spAutoFit/>
          </a:bodyPr>
          <a:lstStyle/>
          <a:p>
            <a:r>
              <a:rPr lang="en-US" sz="1400" dirty="0"/>
              <a:t>terraform console – Evaluate Terraform expressions interactively</a:t>
            </a:r>
            <a:br>
              <a:rPr lang="en-US" sz="1400" dirty="0"/>
            </a:br>
            <a:r>
              <a:rPr lang="en-US" sz="1400" dirty="0"/>
              <a:t>Example</a:t>
            </a:r>
            <a:br>
              <a:rPr lang="en-US" sz="1400" dirty="0"/>
            </a:br>
            <a:r>
              <a:rPr lang="en-US" sz="1400" dirty="0"/>
              <a:t>terraform console</a:t>
            </a:r>
            <a:br>
              <a:rPr lang="en-US" sz="1400" dirty="0"/>
            </a:br>
            <a:r>
              <a:rPr lang="en-US" sz="1400" dirty="0"/>
              <a:t>&gt; 10 + 20 # Output: 30</a:t>
            </a:r>
            <a:br>
              <a:rPr lang="en-US" sz="1400" dirty="0"/>
            </a:br>
            <a:r>
              <a:rPr lang="en-US" sz="1400" dirty="0"/>
              <a:t>&gt; "Hello" + " Terraform" # Output: "Hello Terraform"</a:t>
            </a:r>
            <a:br>
              <a:rPr lang="en-US" sz="1400" dirty="0"/>
            </a:br>
            <a:r>
              <a:rPr lang="en-US" sz="1400" dirty="0"/>
              <a:t>&gt; upper("azure") # Output: "AZURE"</a:t>
            </a:r>
            <a:br>
              <a:rPr lang="en-US" sz="1400" dirty="0"/>
            </a:br>
            <a:r>
              <a:rPr lang="en-US" sz="1400" dirty="0"/>
              <a:t>&gt; length("Terraform") # Output: 9</a:t>
            </a:r>
            <a:br>
              <a:rPr lang="en-US" sz="1400" dirty="0"/>
            </a:br>
            <a:r>
              <a:rPr lang="en-US" sz="1400" dirty="0"/>
              <a:t>&gt; exit</a:t>
            </a:r>
            <a:br>
              <a:rPr lang="en-US" sz="1400" dirty="0"/>
            </a:br>
            <a:br>
              <a:rPr lang="en-US" sz="1400" dirty="0"/>
            </a:br>
            <a:r>
              <a:rPr lang="en-US" sz="1400" dirty="0"/>
              <a:t>🔹 terraform </a:t>
            </a:r>
            <a:r>
              <a:rPr lang="en-US" sz="1400" dirty="0" err="1"/>
              <a:t>fmt</a:t>
            </a:r>
            <a:r>
              <a:rPr lang="en-US" sz="1400" dirty="0"/>
              <a:t> – Format Terraform configuration files.</a:t>
            </a:r>
            <a:br>
              <a:rPr lang="en-US" sz="1400" dirty="0"/>
            </a:br>
            <a:r>
              <a:rPr lang="en-US" sz="1400" dirty="0"/>
              <a:t>🔹 terraform graph – Visualize infrastructure </a:t>
            </a:r>
            <a:r>
              <a:rPr lang="en-US" sz="1400" dirty="0" err="1"/>
              <a:t>dependencies.Understand</a:t>
            </a:r>
            <a:r>
              <a:rPr lang="en-US" sz="1400" dirty="0"/>
              <a:t> which resources Terraform creates first and how resources depend on each other.</a:t>
            </a:r>
            <a:br>
              <a:rPr lang="en-US" sz="1400" dirty="0"/>
            </a:br>
            <a:r>
              <a:rPr lang="en-US" sz="1400" dirty="0"/>
              <a:t>🔹 terraform import – Bring existing infrastructure under Terraform management</a:t>
            </a:r>
            <a:br>
              <a:rPr lang="en-US" sz="1400" dirty="0"/>
            </a:br>
            <a:r>
              <a:rPr lang="en-US" sz="1400" dirty="0"/>
              <a:t>🔹 terraform providers – Identify required providers</a:t>
            </a:r>
            <a:br>
              <a:rPr lang="en-US" sz="1400" dirty="0"/>
            </a:br>
            <a:r>
              <a:rPr lang="en-US" sz="1400" dirty="0"/>
              <a:t>🔹 terraform show – Inspect the current state or a saved plan</a:t>
            </a:r>
            <a:br>
              <a:rPr lang="en-US" sz="1400" dirty="0"/>
            </a:br>
            <a:r>
              <a:rPr lang="en-US" sz="1400" dirty="0"/>
              <a:t>🔹 terraform state – Manage Terraform state</a:t>
            </a:r>
            <a:br>
              <a:rPr lang="en-US" sz="1400" dirty="0"/>
            </a:br>
            <a:r>
              <a:rPr lang="en-US" sz="1400" dirty="0"/>
              <a:t>🔹 terraform workspace – Manage separate workspaces</a:t>
            </a:r>
            <a:br>
              <a:rPr lang="en-US" sz="1400" dirty="0"/>
            </a:br>
            <a:br>
              <a:rPr lang="en-US" sz="1400" dirty="0"/>
            </a:br>
            <a:r>
              <a:rPr lang="en-US" sz="1400" dirty="0"/>
              <a:t>terraform workspace list # Lists all workspaces</a:t>
            </a:r>
            <a:br>
              <a:rPr lang="en-US" sz="1400" dirty="0"/>
            </a:br>
            <a:r>
              <a:rPr lang="en-US" sz="1400" dirty="0"/>
              <a:t>terraform workspace new dev # Creates a dev workspace</a:t>
            </a:r>
            <a:br>
              <a:rPr lang="en-US" sz="1400" dirty="0"/>
            </a:br>
            <a:r>
              <a:rPr lang="en-US" sz="1400" dirty="0"/>
              <a:t>terraform workspace select dev # Switches to dev workspace</a:t>
            </a:r>
            <a:br>
              <a:rPr lang="en-US" sz="1400" dirty="0"/>
            </a:br>
            <a:r>
              <a:rPr lang="en-US" sz="1400" dirty="0"/>
              <a:t>terraform workspace show # Shows current workspace</a:t>
            </a:r>
            <a:br>
              <a:rPr lang="en-US" sz="1400" dirty="0"/>
            </a:br>
            <a:r>
              <a:rPr lang="en-US" sz="1400" dirty="0"/>
              <a:t>terraform workspace delete dev # Deletes a workspace</a:t>
            </a:r>
            <a:br>
              <a:rPr lang="en-US" sz="1400" dirty="0"/>
            </a:br>
            <a:br>
              <a:rPr lang="en-US" sz="1400" dirty="0"/>
            </a:br>
            <a:r>
              <a:rPr lang="en-US" sz="1400" dirty="0"/>
              <a:t>🔹 terraform output – Display output values</a:t>
            </a:r>
            <a:br>
              <a:rPr lang="en-US" sz="1400" dirty="0"/>
            </a:br>
            <a:r>
              <a:rPr lang="en-US" sz="1400" dirty="0"/>
              <a:t>terraform output # Displays all outputs</a:t>
            </a:r>
            <a:br>
              <a:rPr lang="en-US" sz="1400" dirty="0"/>
            </a:br>
            <a:r>
              <a:rPr lang="en-US" sz="1400" dirty="0"/>
              <a:t>terraform output </a:t>
            </a:r>
            <a:r>
              <a:rPr lang="en-US" sz="1400" dirty="0" err="1"/>
              <a:t>rg_name</a:t>
            </a:r>
            <a:r>
              <a:rPr lang="en-US" sz="1400" dirty="0"/>
              <a:t> # Displays a specific output</a:t>
            </a:r>
            <a:br>
              <a:rPr lang="en-US" sz="1400" dirty="0"/>
            </a:br>
            <a:r>
              <a:rPr lang="en-US" sz="1400" dirty="0"/>
              <a:t>terraform output -</a:t>
            </a:r>
            <a:r>
              <a:rPr lang="en-US" sz="1400" dirty="0" err="1"/>
              <a:t>json</a:t>
            </a:r>
            <a:r>
              <a:rPr lang="en-US" sz="1400" dirty="0"/>
              <a:t> # Displays outputs in JSON format</a:t>
            </a:r>
          </a:p>
        </p:txBody>
      </p:sp>
    </p:spTree>
    <p:extLst>
      <p:ext uri="{BB962C8B-B14F-4D97-AF65-F5344CB8AC3E}">
        <p14:creationId xmlns:p14="http://schemas.microsoft.com/office/powerpoint/2010/main" val="12354183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DEE2C-8051-2600-ABDD-D4936F0EDBD4}"/>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C13954CE-4B44-8640-F22F-DC811BF54438}"/>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402AEE81-AC1E-3903-E5D0-523498936C44}"/>
              </a:ext>
            </a:extLst>
          </p:cNvPr>
          <p:cNvSpPr txBox="1">
            <a:spLocks/>
          </p:cNvSpPr>
          <p:nvPr/>
        </p:nvSpPr>
        <p:spPr>
          <a:xfrm>
            <a:off x="1141620" y="109230"/>
            <a:ext cx="10391897" cy="107661"/>
          </a:xfrm>
          <a:prstGeom prst="rect">
            <a:avLst/>
          </a:prstGeom>
          <a:solidFill>
            <a:schemeClr val="bg1"/>
          </a:solidFill>
          <a:ln w="12700">
            <a:miter lim="400000"/>
          </a:ln>
          <a:extLst>
            <a:ext uri="{C572A759-6A51-4108-AA02-DFA0A04FC94B}">
              <ma14:wrappingTextBoxFlag xmlns="" xmlns:ma14="http://schemas.microsoft.com/office/mac/drawingml/2011/main"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b="0" dirty="0"/>
              <a:t>2-Terraform Learning Journey | Day — Exploring Terraform CLI Commands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pic>
        <p:nvPicPr>
          <p:cNvPr id="2" name="Picture 1" descr="View image">
            <a:extLst>
              <a:ext uri="{FF2B5EF4-FFF2-40B4-BE49-F238E27FC236}">
                <a16:creationId xmlns:a16="http://schemas.microsoft.com/office/drawing/2014/main" id="{F1D0635C-ADA6-D0DA-C7D4-86142764D1A0}"/>
              </a:ext>
            </a:extLst>
          </p:cNvPr>
          <p:cNvPicPr>
            <a:picLocks noChangeAspect="1"/>
          </p:cNvPicPr>
          <p:nvPr/>
        </p:nvPicPr>
        <p:blipFill>
          <a:blip r:embed="rId2"/>
          <a:stretch>
            <a:fillRect/>
          </a:stretch>
        </p:blipFill>
        <p:spPr>
          <a:xfrm>
            <a:off x="500332" y="576262"/>
            <a:ext cx="9405668" cy="5705475"/>
          </a:xfrm>
          <a:prstGeom prst="rect">
            <a:avLst/>
          </a:prstGeom>
        </p:spPr>
      </p:pic>
    </p:spTree>
    <p:extLst>
      <p:ext uri="{BB962C8B-B14F-4D97-AF65-F5344CB8AC3E}">
        <p14:creationId xmlns:p14="http://schemas.microsoft.com/office/powerpoint/2010/main" val="97328423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787D3-653E-BB45-67CC-0915B2B3F1ED}"/>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FF432C39-8E1A-BB23-02AB-F748992E3388}"/>
              </a:ext>
            </a:extLst>
          </p:cNvPr>
          <p:cNvSpPr/>
          <p:nvPr/>
        </p:nvSpPr>
        <p:spPr>
          <a:xfrm>
            <a:off x="219512" y="485020"/>
            <a:ext cx="11734800" cy="5905490"/>
          </a:xfrm>
          <a:prstGeom prst="roundRect">
            <a:avLst>
              <a:gd name="adj" fmla="val 5030"/>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sz="1800" b="0" i="0" u="none" strike="noStrike" kern="1200" cap="none" spc="0" normalizeH="0" baseline="0" noProof="0" dirty="0">
              <a:ln>
                <a:noFill/>
              </a:ln>
              <a:solidFill>
                <a:prstClr val="white"/>
              </a:solidFill>
              <a:effectLst/>
              <a:uLnTx/>
              <a:uFillTx/>
              <a:latin typeface="Rakuten Sans"/>
              <a:ea typeface="メイリオ"/>
              <a:cs typeface="+mn-cs"/>
            </a:endParaRPr>
          </a:p>
        </p:txBody>
      </p:sp>
      <p:sp>
        <p:nvSpPr>
          <p:cNvPr id="3" name="Title 1">
            <a:extLst>
              <a:ext uri="{FF2B5EF4-FFF2-40B4-BE49-F238E27FC236}">
                <a16:creationId xmlns:a16="http://schemas.microsoft.com/office/drawing/2014/main" id="{8779640C-40F1-1FDE-0003-A686C6D655C3}"/>
              </a:ext>
            </a:extLst>
          </p:cNvPr>
          <p:cNvSpPr txBox="1">
            <a:spLocks/>
          </p:cNvSpPr>
          <p:nvPr/>
        </p:nvSpPr>
        <p:spPr>
          <a:xfrm>
            <a:off x="1141620" y="109230"/>
            <a:ext cx="10391897" cy="107661"/>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lIns="71436" tIns="71436" rIns="71436" bIns="71436" anchor="ctr">
            <a:noAutofit/>
          </a:bodyPr>
          <a:lstStyle>
            <a:lvl1pPr marL="0" marR="0" indent="0" algn="l" defTabSz="308475" eaLnBrk="1" latinLnBrk="0" hangingPunct="1">
              <a:lnSpc>
                <a:spcPct val="100000"/>
              </a:lnSpc>
              <a:spcBef>
                <a:spcPts val="0"/>
              </a:spcBef>
              <a:spcAft>
                <a:spcPts val="0"/>
              </a:spcAft>
              <a:buClrTx/>
              <a:buSzTx/>
              <a:buFontTx/>
              <a:buNone/>
              <a:tabLst/>
              <a:defRPr kumimoji="1" sz="2600" b="1" i="0" u="none" strike="noStrike" cap="none" spc="0" baseline="0">
                <a:ln>
                  <a:noFill/>
                </a:ln>
                <a:solidFill>
                  <a:srgbClr val="FF008C"/>
                </a:solidFill>
                <a:uFillTx/>
                <a:latin typeface="Rakuten Sans" panose="020B0503020203020204" pitchFamily="34" charset="0"/>
                <a:ea typeface="+mj-ea"/>
                <a:cs typeface="Rakuten Sans" panose="020B0503020203020204" pitchFamily="34" charset="0"/>
                <a:sym typeface="メイリオ"/>
              </a:defRPr>
            </a:lvl1pPr>
            <a:lvl2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2pPr>
            <a:lvl3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3pPr>
            <a:lvl4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4pPr>
            <a:lvl5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5pPr>
            <a:lvl6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6pPr>
            <a:lvl7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7pPr>
            <a:lvl8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8pPr>
            <a:lvl9pPr marL="0" marR="0" indent="0" algn="l" defTabSz="308475" eaLnBrk="1" latinLnBrk="0" hangingPunct="1">
              <a:lnSpc>
                <a:spcPct val="100000"/>
              </a:lnSpc>
              <a:spcBef>
                <a:spcPts val="0"/>
              </a:spcBef>
              <a:spcAft>
                <a:spcPts val="0"/>
              </a:spcAft>
              <a:buClrTx/>
              <a:buSzTx/>
              <a:buFontTx/>
              <a:buNone/>
              <a:tabLst/>
              <a:defRPr kumimoji="1" sz="2400" b="0" i="0" u="none" strike="noStrike" cap="none" spc="0" baseline="0">
                <a:ln>
                  <a:noFill/>
                </a:ln>
                <a:solidFill>
                  <a:srgbClr val="000000"/>
                </a:solidFill>
                <a:uFillTx/>
                <a:latin typeface="+mn-lt"/>
                <a:ea typeface="+mn-ea"/>
                <a:cs typeface="+mj-cs"/>
                <a:sym typeface="メイリオ"/>
              </a:defRPr>
            </a:lvl9pPr>
          </a:lstStyle>
          <a:p>
            <a:pPr lvl="0">
              <a:defRPr/>
            </a:pPr>
            <a:r>
              <a:rPr lang="en-US" sz="2800" b="0" dirty="0"/>
              <a:t>How Do You Handle Flaky Tests?</a:t>
            </a:r>
            <a:endParaRPr kumimoji="1" lang="en-US" sz="2400" b="1" i="0" u="none" strike="noStrike" kern="0" cap="none" spc="0" normalizeH="0" baseline="0" noProof="0" dirty="0">
              <a:ln>
                <a:noFill/>
              </a:ln>
              <a:solidFill>
                <a:srgbClr val="F50A8C"/>
              </a:solidFill>
              <a:effectLst/>
              <a:uLnTx/>
              <a:uFillTx/>
              <a:latin typeface="Rakuten Sans" panose="020B0503020203020204" pitchFamily="34" charset="0"/>
              <a:ea typeface="メイリオ"/>
              <a:sym typeface="メイリオ"/>
            </a:endParaRPr>
          </a:p>
        </p:txBody>
      </p:sp>
      <p:pic>
        <p:nvPicPr>
          <p:cNvPr id="4" name="Picture 3">
            <a:extLst>
              <a:ext uri="{FF2B5EF4-FFF2-40B4-BE49-F238E27FC236}">
                <a16:creationId xmlns:a16="http://schemas.microsoft.com/office/drawing/2014/main" id="{56F47389-6A7D-AD82-B2FC-254845A1D4ED}"/>
              </a:ext>
            </a:extLst>
          </p:cNvPr>
          <p:cNvPicPr>
            <a:picLocks noChangeAspect="1"/>
          </p:cNvPicPr>
          <p:nvPr/>
        </p:nvPicPr>
        <p:blipFill>
          <a:blip r:embed="rId2"/>
          <a:stretch>
            <a:fillRect/>
          </a:stretch>
        </p:blipFill>
        <p:spPr>
          <a:xfrm>
            <a:off x="6567936" y="624335"/>
            <a:ext cx="5247019" cy="5247019"/>
          </a:xfrm>
          <a:prstGeom prst="rect">
            <a:avLst/>
          </a:prstGeom>
        </p:spPr>
      </p:pic>
      <p:sp>
        <p:nvSpPr>
          <p:cNvPr id="6" name="TextBox 5">
            <a:extLst>
              <a:ext uri="{FF2B5EF4-FFF2-40B4-BE49-F238E27FC236}">
                <a16:creationId xmlns:a16="http://schemas.microsoft.com/office/drawing/2014/main" id="{334307E9-C827-96A2-1780-79CAABDC65C4}"/>
              </a:ext>
            </a:extLst>
          </p:cNvPr>
          <p:cNvSpPr txBox="1"/>
          <p:nvPr/>
        </p:nvSpPr>
        <p:spPr>
          <a:xfrm>
            <a:off x="545621" y="753792"/>
            <a:ext cx="6094562" cy="2262158"/>
          </a:xfrm>
          <a:prstGeom prst="rect">
            <a:avLst/>
          </a:prstGeom>
          <a:noFill/>
        </p:spPr>
        <p:txBody>
          <a:bodyPr wrap="square">
            <a:spAutoFit/>
          </a:bodyPr>
          <a:lstStyle/>
          <a:p>
            <a:r>
              <a:rPr lang="en-US" sz="1800" b="0" i="0" dirty="0">
                <a:effectLst/>
                <a:latin typeface="+mn-lt"/>
              </a:rPr>
              <a:t>How Do You Handle Flaky Tests?</a:t>
            </a:r>
            <a:br>
              <a:rPr lang="en-US" dirty="0"/>
            </a:br>
            <a:r>
              <a:rPr lang="en-US" sz="1800" b="0" i="0" dirty="0">
                <a:effectLst/>
                <a:latin typeface="+mn-lt"/>
              </a:rPr>
              <a:t>Ever seen tests pass in one build and fail in the next—with no code changes? </a:t>
            </a:r>
            <a:br>
              <a:rPr lang="en-US" dirty="0"/>
            </a:br>
            <a:r>
              <a:rPr lang="en-US" sz="1800" b="0" i="0" dirty="0">
                <a:effectLst/>
                <a:latin typeface="+mn-lt"/>
              </a:rPr>
              <a:t>🤔That’s a flaky test, and it can delay releases and reduce confidence in CI/CD pipelines.</a:t>
            </a:r>
            <a:br>
              <a:rPr lang="en-US" dirty="0"/>
            </a:br>
            <a:br>
              <a:rPr lang="en-US" dirty="0"/>
            </a:br>
            <a:r>
              <a:rPr lang="en-US" sz="1800" b="0" i="0" dirty="0">
                <a:effectLst/>
                <a:latin typeface="+mn-lt"/>
              </a:rPr>
              <a:t>✅ Identify the root cause</a:t>
            </a:r>
            <a:br>
              <a:rPr lang="en-US" dirty="0"/>
            </a:br>
            <a:r>
              <a:rPr lang="en-US" sz="1800" b="0" i="0" dirty="0">
                <a:effectLst/>
                <a:latin typeface="+mn-lt"/>
              </a:rPr>
              <a:t>✅ Analyze logs and test reports</a:t>
            </a:r>
            <a:br>
              <a:rPr lang="en-US" dirty="0"/>
            </a:br>
            <a:r>
              <a:rPr lang="en-US" sz="1800" b="0" i="0" dirty="0">
                <a:effectLst/>
                <a:latin typeface="+mn-lt"/>
              </a:rPr>
              <a:t>✅ Fix timing, environment, and test data issues</a:t>
            </a:r>
            <a:br>
              <a:rPr lang="en-US" dirty="0"/>
            </a:br>
            <a:r>
              <a:rPr lang="en-US" sz="1800" b="0" i="0" dirty="0">
                <a:effectLst/>
                <a:latin typeface="+mn-lt"/>
              </a:rPr>
              <a:t>✅ Validate reliability and monitor results💡</a:t>
            </a:r>
            <a:br>
              <a:rPr lang="en-US" dirty="0"/>
            </a:br>
            <a:br>
              <a:rPr lang="en-US" dirty="0"/>
            </a:br>
            <a:r>
              <a:rPr lang="en-US" sz="1800" b="0" i="0" dirty="0">
                <a:effectLst/>
                <a:latin typeface="+mn-lt"/>
              </a:rPr>
              <a:t>Remember: Retries are not a permanent </a:t>
            </a:r>
            <a:br>
              <a:rPr lang="en-US" dirty="0"/>
            </a:br>
            <a:r>
              <a:rPr lang="en-US" sz="1800" b="0" i="0" dirty="0">
                <a:effectLst/>
                <a:latin typeface="+mn-lt"/>
              </a:rPr>
              <a:t>solution. Fix the root cause!</a:t>
            </a:r>
            <a:br>
              <a:rPr lang="en-US" dirty="0"/>
            </a:br>
            <a:r>
              <a:rPr lang="en-US" sz="1800" b="0" i="0" dirty="0">
                <a:effectLst/>
                <a:latin typeface="+mn-lt"/>
              </a:rPr>
              <a:t>💬 What would you check first when a test fails randomly?</a:t>
            </a:r>
            <a:endParaRPr lang="en-US" dirty="0"/>
          </a:p>
        </p:txBody>
      </p:sp>
    </p:spTree>
    <p:extLst>
      <p:ext uri="{BB962C8B-B14F-4D97-AF65-F5344CB8AC3E}">
        <p14:creationId xmlns:p14="http://schemas.microsoft.com/office/powerpoint/2010/main" val="1713576394"/>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10312</TotalTime>
  <Words>5348</Words>
  <Application>Microsoft Office PowerPoint</Application>
  <PresentationFormat>Widescreen</PresentationFormat>
  <Paragraphs>129</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Rakuten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Jain, Kirti | RSI</dc:creator>
  <cp:lastModifiedBy>Gaurav Vishwamitra</cp:lastModifiedBy>
  <cp:revision>70</cp:revision>
  <dcterms:created xsi:type="dcterms:W3CDTF">2026-03-25T05:02:55Z</dcterms:created>
  <dcterms:modified xsi:type="dcterms:W3CDTF">2026-10-25T16:59:05Z</dcterms:modified>
</cp:coreProperties>
</file>